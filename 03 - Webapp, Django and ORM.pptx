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6" r:id="rId2"/>
    <p:sldId id="396" r:id="rId3"/>
    <p:sldId id="445" r:id="rId4"/>
    <p:sldId id="446" r:id="rId5"/>
    <p:sldId id="437" r:id="rId6"/>
    <p:sldId id="438" r:id="rId7"/>
    <p:sldId id="439" r:id="rId8"/>
    <p:sldId id="290" r:id="rId9"/>
    <p:sldId id="291" r:id="rId10"/>
    <p:sldId id="286" r:id="rId11"/>
    <p:sldId id="441" r:id="rId12"/>
    <p:sldId id="442" r:id="rId13"/>
    <p:sldId id="443" r:id="rId14"/>
    <p:sldId id="444" r:id="rId15"/>
    <p:sldId id="448" r:id="rId16"/>
    <p:sldId id="447" r:id="rId17"/>
    <p:sldId id="449" r:id="rId18"/>
    <p:sldId id="436" r:id="rId19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24"/>
    <p:restoredTop sz="94793"/>
  </p:normalViewPr>
  <p:slideViewPr>
    <p:cSldViewPr snapToGrid="0">
      <p:cViewPr>
        <p:scale>
          <a:sx n="194" d="100"/>
          <a:sy n="194" d="100"/>
        </p:scale>
        <p:origin x="144" y="-1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521290-7B41-034E-A762-EED4E7D0329D}" type="datetimeFigureOut">
              <a:rPr lang="en-IT" smtClean="0"/>
              <a:t>22/10/25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0730F-2212-CC43-85C4-95F23396AEC8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6858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C0730F-2212-CC43-85C4-95F23396AEC8}" type="slidenum">
              <a:rPr lang="en-IT" smtClean="0"/>
              <a:t>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269200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6.svg"/><Relationship Id="rId7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31C26-426B-7570-7793-398047F5C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82C8F-CCAD-FB5A-1AEC-A340E3E56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F2BA1-6B4A-27F5-8729-D4676D63A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6907-3096-8A45-9881-C82B96BD8D7C}" type="datetimeFigureOut">
              <a:rPr lang="en-IT" smtClean="0"/>
              <a:t>22/10/25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EA143-80E4-845E-0CA1-80C3BF947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56A12-F209-8DF2-622F-752A88AB4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1B302-2EBD-0847-A20F-6FDD5B44A2B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62963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2928-C14F-DD56-5C95-3528F839D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CC22E-5AAD-C90D-0E57-9D30B8B5D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2CF44-42D2-B8B0-255E-3A8BC7B1D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6907-3096-8A45-9881-C82B96BD8D7C}" type="datetimeFigureOut">
              <a:rPr lang="en-IT" smtClean="0"/>
              <a:t>22/10/25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7DF58-D2D3-9160-D783-4031F0142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D2883-F35E-F286-5056-2FBE9264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1B302-2EBD-0847-A20F-6FDD5B44A2B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264956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7FD15-DE64-BD6A-727D-FF33F5255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B1A13-7987-416C-ED75-7762A381C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FBC85-6F5E-BFD7-7E0E-6CAB202B7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6907-3096-8A45-9881-C82B96BD8D7C}" type="datetimeFigureOut">
              <a:rPr lang="en-IT" smtClean="0"/>
              <a:t>22/10/25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5BFD1-413B-E3AF-E6D9-61C3A88BE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B9F4-2E22-9016-D68E-EB0EFE56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1B302-2EBD-0847-A20F-6FDD5B44A2B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41350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BE179-66A0-45F0-B994-9BB3CFB76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100A6-2795-B7E1-D5CE-7357AEC90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6AD74-C24C-F578-2B5F-0CF63015C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C964-FB8B-3034-A9CA-1BDC95470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6907-3096-8A45-9881-C82B96BD8D7C}" type="datetimeFigureOut">
              <a:rPr lang="en-IT" smtClean="0"/>
              <a:t>22/10/25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89D6D-FAE5-34CB-61C2-CEE3393DC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809A8-98F8-484A-38A9-38BE99041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1B302-2EBD-0847-A20F-6FDD5B44A2B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0250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6B498-5084-0065-BFB7-B7389842F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81219-990B-FC73-36F0-7D8710427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FD960-A86F-80D5-D98E-53C910E06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B3B7AF-3E02-9A52-5D72-5A84D822D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BC7EC6-E7C4-9544-54E7-5EA34DD16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568BBD-DE33-E38C-FB1C-56C92D50A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6907-3096-8A45-9881-C82B96BD8D7C}" type="datetimeFigureOut">
              <a:rPr lang="en-IT" smtClean="0"/>
              <a:t>22/10/25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B0DC59-3D78-8242-3536-73E88255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B36461-C73E-8F3E-FE49-12C78794B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1B302-2EBD-0847-A20F-6FDD5B44A2B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39776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57681-4FE3-D5E7-8FC3-47B8A11C5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9E2F95-D4D4-18B2-74CA-82E87663A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6907-3096-8A45-9881-C82B96BD8D7C}" type="datetimeFigureOut">
              <a:rPr lang="en-IT" smtClean="0"/>
              <a:t>22/10/25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96867C-8B39-0992-EF31-39318182E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D064AF-144C-7874-56C6-B4A8979DE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1B302-2EBD-0847-A20F-6FDD5B44A2B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39303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ED5708-7E61-27A8-820C-7131D136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6907-3096-8A45-9881-C82B96BD8D7C}" type="datetimeFigureOut">
              <a:rPr lang="en-IT" smtClean="0"/>
              <a:t>22/10/25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A4EEE3-BA57-9E7A-64E2-F4257F0FF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A784B-9819-59A0-8424-7FEB3C58F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1B302-2EBD-0847-A20F-6FDD5B44A2B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259477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9D92A-69B1-3938-3E3A-D5380330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DF6BA-107E-7EAF-B007-769A63290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5CDF5-6CAB-55CA-2AEF-3B037CE41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E998B-A78A-B44A-801F-D02CA67A0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6907-3096-8A45-9881-C82B96BD8D7C}" type="datetimeFigureOut">
              <a:rPr lang="en-IT" smtClean="0"/>
              <a:t>22/10/25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8D3A4-001E-8515-96B5-F0F62B1D1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DE700-13CD-55BE-B041-6C176ACC4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1B302-2EBD-0847-A20F-6FDD5B44A2B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32224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6B436-F6CB-2198-EEBE-DE258DEAA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867BB7-72A9-2C3C-E2BC-8133458536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706D91-AFB6-30DB-A0AF-4E1A1F14C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E7371-B953-7DCF-6E68-4B77F3EA5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6907-3096-8A45-9881-C82B96BD8D7C}" type="datetimeFigureOut">
              <a:rPr lang="en-IT" smtClean="0"/>
              <a:t>22/10/25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B3A9C-2B84-BF12-6897-566B7FE75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012B9C-CBCE-0A50-E572-006C47471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1B302-2EBD-0847-A20F-6FDD5B44A2B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28372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5BE1F-1D9C-2766-89BC-857B4C417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AC409D-E072-3CF7-9AFF-BD6D69374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DFD15-DB72-D54A-9808-30595533D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6907-3096-8A45-9881-C82B96BD8D7C}" type="datetimeFigureOut">
              <a:rPr lang="en-IT" smtClean="0"/>
              <a:t>22/10/25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161FF-561A-AB3A-A4B8-9C668ADA2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4C9E6-35F3-514D-2400-7D97EDCB9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1B302-2EBD-0847-A20F-6FDD5B44A2B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36739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99774-A42F-B697-9E12-7E03AF36C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FD5A5A-8209-3735-5F5F-804D7519B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A370B-B2E2-7FAE-A223-E0E5584A3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6907-3096-8A45-9881-C82B96BD8D7C}" type="datetimeFigureOut">
              <a:rPr lang="en-IT" smtClean="0"/>
              <a:t>22/10/25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423DA-B940-0BE0-02C3-4813FB66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9FDE4-FB3B-3DE9-4AD1-36D6F7EEA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1B302-2EBD-0847-A20F-6FDD5B44A2B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270834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4EC591F8-4686-3257-EA4A-77D63C5795D5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6000926" cy="3375521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507B4DF1-F2B2-BBBC-D51A-B761102DCE47}"/>
                </a:ext>
              </a:extLst>
            </p:cNvPr>
            <p:cNvSpPr/>
            <p:nvPr/>
          </p:nvSpPr>
          <p:spPr>
            <a:xfrm>
              <a:off x="0" y="0"/>
              <a:ext cx="6000926" cy="3375521"/>
            </a:xfrm>
            <a:custGeom>
              <a:avLst/>
              <a:gdLst/>
              <a:ahLst/>
              <a:cxnLst/>
              <a:rect l="l" t="t" r="r" b="b"/>
              <a:pathLst>
                <a:path w="6000926" h="3375521">
                  <a:moveTo>
                    <a:pt x="0" y="0"/>
                  </a:moveTo>
                  <a:lnTo>
                    <a:pt x="6000926" y="0"/>
                  </a:lnTo>
                  <a:lnTo>
                    <a:pt x="6000926" y="3375521"/>
                  </a:lnTo>
                  <a:lnTo>
                    <a:pt x="0" y="3375521"/>
                  </a:lnTo>
                  <a:close/>
                </a:path>
              </a:pathLst>
            </a:custGeom>
            <a:gradFill rotWithShape="1">
              <a:gsLst>
                <a:gs pos="0">
                  <a:srgbClr val="1D0E46">
                    <a:alpha val="100000"/>
                  </a:srgbClr>
                </a:gs>
                <a:gs pos="100000">
                  <a:srgbClr val="1E57A8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it-IT" sz="600" dirty="0"/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E860DC7A-8CB5-5911-6262-5C2991E23F5C}"/>
                </a:ext>
              </a:extLst>
            </p:cNvPr>
            <p:cNvSpPr txBox="1"/>
            <p:nvPr/>
          </p:nvSpPr>
          <p:spPr>
            <a:xfrm>
              <a:off x="0" y="-28575"/>
              <a:ext cx="6000926" cy="3404096"/>
            </a:xfrm>
            <a:prstGeom prst="rect">
              <a:avLst/>
            </a:prstGeom>
          </p:spPr>
          <p:txBody>
            <a:bodyPr lIns="40774" tIns="40774" rIns="40774" bIns="40774" rtlCol="0" anchor="ctr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  <a:endParaRPr sz="600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97954498-0978-86F1-7ED6-AE08280F3A45}"/>
              </a:ext>
            </a:extLst>
          </p:cNvPr>
          <p:cNvSpPr/>
          <p:nvPr userDrawn="1"/>
        </p:nvSpPr>
        <p:spPr>
          <a:xfrm>
            <a:off x="593928" y="310954"/>
            <a:ext cx="3657315" cy="963855"/>
          </a:xfrm>
          <a:custGeom>
            <a:avLst/>
            <a:gdLst/>
            <a:ahLst/>
            <a:cxnLst/>
            <a:rect l="l" t="t" r="r" b="b"/>
            <a:pathLst>
              <a:path w="3222150" h="999971">
                <a:moveTo>
                  <a:pt x="0" y="0"/>
                </a:moveTo>
                <a:lnTo>
                  <a:pt x="3222150" y="0"/>
                </a:lnTo>
                <a:lnTo>
                  <a:pt x="3222150" y="999971"/>
                </a:lnTo>
                <a:lnTo>
                  <a:pt x="0" y="9999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7" t="-1" r="7389" b="4628"/>
            </a:stretch>
          </a:blipFill>
        </p:spPr>
        <p:txBody>
          <a:bodyPr/>
          <a:lstStyle/>
          <a:p>
            <a:endParaRPr lang="it-IT" sz="60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338272F-100D-0023-B39D-9D6928DF6D09}"/>
              </a:ext>
            </a:extLst>
          </p:cNvPr>
          <p:cNvSpPr/>
          <p:nvPr/>
        </p:nvSpPr>
        <p:spPr>
          <a:xfrm>
            <a:off x="9179641" y="392892"/>
            <a:ext cx="1037916" cy="669017"/>
          </a:xfrm>
          <a:custGeom>
            <a:avLst/>
            <a:gdLst/>
            <a:ahLst/>
            <a:cxnLst/>
            <a:rect l="l" t="t" r="r" b="b"/>
            <a:pathLst>
              <a:path w="1623623" h="1046552">
                <a:moveTo>
                  <a:pt x="0" y="0"/>
                </a:moveTo>
                <a:lnTo>
                  <a:pt x="1623623" y="0"/>
                </a:lnTo>
                <a:lnTo>
                  <a:pt x="1623623" y="1046552"/>
                </a:lnTo>
                <a:lnTo>
                  <a:pt x="0" y="10465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865" t="-15431" r="-12306" b="-18194"/>
            </a:stretch>
          </a:blipFill>
        </p:spPr>
        <p:txBody>
          <a:bodyPr/>
          <a:lstStyle/>
          <a:p>
            <a:endParaRPr lang="it-IT" sz="600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B2759D12-7E66-BEDE-4DCC-D7D499E73719}"/>
              </a:ext>
            </a:extLst>
          </p:cNvPr>
          <p:cNvSpPr/>
          <p:nvPr/>
        </p:nvSpPr>
        <p:spPr>
          <a:xfrm>
            <a:off x="10809711" y="179992"/>
            <a:ext cx="706991" cy="1094817"/>
          </a:xfrm>
          <a:custGeom>
            <a:avLst/>
            <a:gdLst/>
            <a:ahLst/>
            <a:cxnLst/>
            <a:rect l="l" t="t" r="r" b="b"/>
            <a:pathLst>
              <a:path w="1105953" h="1712636">
                <a:moveTo>
                  <a:pt x="0" y="0"/>
                </a:moveTo>
                <a:lnTo>
                  <a:pt x="1105953" y="0"/>
                </a:lnTo>
                <a:lnTo>
                  <a:pt x="1105953" y="1712636"/>
                </a:lnTo>
                <a:lnTo>
                  <a:pt x="0" y="17126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 sz="600"/>
          </a:p>
        </p:txBody>
      </p:sp>
      <p:pic>
        <p:nvPicPr>
          <p:cNvPr id="16" name="Picture 17">
            <a:extLst>
              <a:ext uri="{FF2B5EF4-FFF2-40B4-BE49-F238E27FC236}">
                <a16:creationId xmlns:a16="http://schemas.microsoft.com/office/drawing/2014/main" id="{88AA0A2B-A7A9-EC9E-F936-DA545E48BCE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93929" y="5843729"/>
            <a:ext cx="1575020" cy="584281"/>
          </a:xfrm>
          <a:prstGeom prst="rect">
            <a:avLst/>
          </a:prstGeom>
        </p:spPr>
      </p:pic>
      <p:sp>
        <p:nvSpPr>
          <p:cNvPr id="18" name="Freeform 17"/>
          <p:cNvSpPr/>
          <p:nvPr userDrawn="1"/>
        </p:nvSpPr>
        <p:spPr>
          <a:xfrm>
            <a:off x="1696418" y="-970583"/>
            <a:ext cx="8799165" cy="8799165"/>
          </a:xfrm>
          <a:custGeom>
            <a:avLst/>
            <a:gdLst/>
            <a:ahLst/>
            <a:cxnLst/>
            <a:rect l="l" t="t" r="r" b="b"/>
            <a:pathLst>
              <a:path w="3862539" h="3862539">
                <a:moveTo>
                  <a:pt x="0" y="0"/>
                </a:moveTo>
                <a:lnTo>
                  <a:pt x="3862539" y="0"/>
                </a:lnTo>
                <a:lnTo>
                  <a:pt x="3862539" y="3862539"/>
                </a:lnTo>
                <a:lnTo>
                  <a:pt x="0" y="386253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it-IT" sz="600" dirty="0"/>
          </a:p>
        </p:txBody>
      </p:sp>
      <p:sp>
        <p:nvSpPr>
          <p:cNvPr id="19" name="Segnaposto testo 14">
            <a:extLst>
              <a:ext uri="{FF2B5EF4-FFF2-40B4-BE49-F238E27FC236}">
                <a16:creationId xmlns:a16="http://schemas.microsoft.com/office/drawing/2014/main" id="{29848BAE-2B78-97D7-872B-8A45147DB4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5299" y="2786134"/>
            <a:ext cx="10907103" cy="743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FontTx/>
              <a:buNone/>
              <a:defRPr sz="5333"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it-IT" sz="5333" dirty="0">
                <a:latin typeface="Aptos" panose="020B0004020202020204" pitchFamily="34" charset="0"/>
              </a:rPr>
              <a:t>Title</a:t>
            </a:r>
            <a:endParaRPr lang="it-IT" dirty="0"/>
          </a:p>
        </p:txBody>
      </p:sp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C0F58129-D2A7-6CEC-77AA-AB22378CB4B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r="34146" b="44108"/>
          <a:stretch>
            <a:fillRect/>
          </a:stretch>
        </p:blipFill>
        <p:spPr>
          <a:xfrm>
            <a:off x="9753600" y="5233473"/>
            <a:ext cx="2438400" cy="1624527"/>
          </a:xfrm>
          <a:prstGeom prst="rect">
            <a:avLst/>
          </a:prstGeom>
        </p:spPr>
      </p:pic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EA665F-C4FE-7185-475E-B027248337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6920" y="4546869"/>
            <a:ext cx="2844800" cy="66691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it-IT" dirty="0"/>
              <a:t>Trieste, Author,</a:t>
            </a:r>
            <a:br>
              <a:rPr lang="it-IT" dirty="0"/>
            </a:br>
            <a:r>
              <a:rPr lang="it-IT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712584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 grafico 23">
            <a:extLst>
              <a:ext uri="{FF2B5EF4-FFF2-40B4-BE49-F238E27FC236}">
                <a16:creationId xmlns:a16="http://schemas.microsoft.com/office/drawing/2014/main" id="{E6FF4E95-6223-DDBD-15B5-2C8C4A8501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46" b="44108"/>
          <a:stretch>
            <a:fillRect/>
          </a:stretch>
        </p:blipFill>
        <p:spPr>
          <a:xfrm>
            <a:off x="9753600" y="5233473"/>
            <a:ext cx="2438400" cy="1624527"/>
          </a:xfrm>
          <a:prstGeom prst="rect">
            <a:avLst/>
          </a:prstGeom>
        </p:spPr>
      </p:pic>
      <p:pic>
        <p:nvPicPr>
          <p:cNvPr id="5" name="Elemento grafico 27">
            <a:extLst>
              <a:ext uri="{FF2B5EF4-FFF2-40B4-BE49-F238E27FC236}">
                <a16:creationId xmlns:a16="http://schemas.microsoft.com/office/drawing/2014/main" id="{AE38DEBA-68E4-EB93-D129-5414E56BCF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8761" t="9524" r="14602" b="23915"/>
          <a:stretch>
            <a:fillRect/>
          </a:stretch>
        </p:blipFill>
        <p:spPr>
          <a:xfrm rot="10800000">
            <a:off x="10495584" y="1"/>
            <a:ext cx="1696417" cy="1976041"/>
          </a:xfrm>
          <a:prstGeom prst="rect">
            <a:avLst/>
          </a:prstGeom>
        </p:spPr>
      </p:pic>
      <p:sp>
        <p:nvSpPr>
          <p:cNvPr id="6" name="Freeform 17">
            <a:extLst>
              <a:ext uri="{FF2B5EF4-FFF2-40B4-BE49-F238E27FC236}">
                <a16:creationId xmlns:a16="http://schemas.microsoft.com/office/drawing/2014/main" id="{3AA8E5E9-3D97-142E-39C1-6BCDF101B267}"/>
              </a:ext>
            </a:extLst>
          </p:cNvPr>
          <p:cNvSpPr/>
          <p:nvPr userDrawn="1"/>
        </p:nvSpPr>
        <p:spPr>
          <a:xfrm>
            <a:off x="1696418" y="-970583"/>
            <a:ext cx="8799165" cy="8799165"/>
          </a:xfrm>
          <a:custGeom>
            <a:avLst/>
            <a:gdLst/>
            <a:ahLst/>
            <a:cxnLst/>
            <a:rect l="l" t="t" r="r" b="b"/>
            <a:pathLst>
              <a:path w="3862539" h="3862539">
                <a:moveTo>
                  <a:pt x="0" y="0"/>
                </a:moveTo>
                <a:lnTo>
                  <a:pt x="3862539" y="0"/>
                </a:lnTo>
                <a:lnTo>
                  <a:pt x="3862539" y="3862539"/>
                </a:lnTo>
                <a:lnTo>
                  <a:pt x="0" y="386253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6">
              <a:alphaModFix amt="3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it-IT" sz="600" dirty="0"/>
          </a:p>
        </p:txBody>
      </p:sp>
    </p:spTree>
    <p:extLst>
      <p:ext uri="{BB962C8B-B14F-4D97-AF65-F5344CB8AC3E}">
        <p14:creationId xmlns:p14="http://schemas.microsoft.com/office/powerpoint/2010/main" val="3080735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4EC591F8-4686-3257-EA4A-77D63C5795D5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6000926" cy="3375521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507B4DF1-F2B2-BBBC-D51A-B761102DCE47}"/>
                </a:ext>
              </a:extLst>
            </p:cNvPr>
            <p:cNvSpPr/>
            <p:nvPr/>
          </p:nvSpPr>
          <p:spPr>
            <a:xfrm>
              <a:off x="0" y="0"/>
              <a:ext cx="6000926" cy="3375521"/>
            </a:xfrm>
            <a:custGeom>
              <a:avLst/>
              <a:gdLst/>
              <a:ahLst/>
              <a:cxnLst/>
              <a:rect l="l" t="t" r="r" b="b"/>
              <a:pathLst>
                <a:path w="6000926" h="3375521">
                  <a:moveTo>
                    <a:pt x="0" y="0"/>
                  </a:moveTo>
                  <a:lnTo>
                    <a:pt x="6000926" y="0"/>
                  </a:lnTo>
                  <a:lnTo>
                    <a:pt x="6000926" y="3375521"/>
                  </a:lnTo>
                  <a:lnTo>
                    <a:pt x="0" y="3375521"/>
                  </a:lnTo>
                  <a:close/>
                </a:path>
              </a:pathLst>
            </a:custGeom>
            <a:gradFill rotWithShape="1">
              <a:gsLst>
                <a:gs pos="0">
                  <a:srgbClr val="1D0E46">
                    <a:alpha val="100000"/>
                  </a:srgbClr>
                </a:gs>
                <a:gs pos="100000">
                  <a:srgbClr val="1E57A8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it-IT" sz="600" dirty="0"/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E860DC7A-8CB5-5911-6262-5C2991E23F5C}"/>
                </a:ext>
              </a:extLst>
            </p:cNvPr>
            <p:cNvSpPr txBox="1"/>
            <p:nvPr/>
          </p:nvSpPr>
          <p:spPr>
            <a:xfrm>
              <a:off x="0" y="-28575"/>
              <a:ext cx="6000926" cy="3404096"/>
            </a:xfrm>
            <a:prstGeom prst="rect">
              <a:avLst/>
            </a:prstGeom>
          </p:spPr>
          <p:txBody>
            <a:bodyPr lIns="40774" tIns="40774" rIns="40774" bIns="40774" rtlCol="0" anchor="ctr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  <a:endParaRPr sz="600"/>
            </a:p>
          </p:txBody>
        </p:sp>
      </p:grpSp>
      <p:sp>
        <p:nvSpPr>
          <p:cNvPr id="19" name="Freeform 17">
            <a:extLst>
              <a:ext uri="{FF2B5EF4-FFF2-40B4-BE49-F238E27FC236}">
                <a16:creationId xmlns:a16="http://schemas.microsoft.com/office/drawing/2014/main" id="{6E350B0F-AB7E-4184-A0F7-DFF2FF4E193E}"/>
              </a:ext>
            </a:extLst>
          </p:cNvPr>
          <p:cNvSpPr/>
          <p:nvPr userDrawn="1"/>
        </p:nvSpPr>
        <p:spPr>
          <a:xfrm>
            <a:off x="1696418" y="-970583"/>
            <a:ext cx="8799165" cy="8799165"/>
          </a:xfrm>
          <a:custGeom>
            <a:avLst/>
            <a:gdLst/>
            <a:ahLst/>
            <a:cxnLst/>
            <a:rect l="l" t="t" r="r" b="b"/>
            <a:pathLst>
              <a:path w="3862539" h="3862539">
                <a:moveTo>
                  <a:pt x="0" y="0"/>
                </a:moveTo>
                <a:lnTo>
                  <a:pt x="3862539" y="0"/>
                </a:lnTo>
                <a:lnTo>
                  <a:pt x="3862539" y="3862539"/>
                </a:lnTo>
                <a:lnTo>
                  <a:pt x="0" y="386253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it-IT" sz="600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01FC40BC-9004-DDF8-38AB-3A93A08ECA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2" t="12495" r="17781" b="14596"/>
          <a:stretch/>
        </p:blipFill>
        <p:spPr>
          <a:xfrm>
            <a:off x="-4430" y="-3669"/>
            <a:ext cx="12196431" cy="1193239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865CBF87-39E6-7C20-D37A-A8DAE93FB84E}"/>
              </a:ext>
            </a:extLst>
          </p:cNvPr>
          <p:cNvSpPr txBox="1"/>
          <p:nvPr userDrawn="1"/>
        </p:nvSpPr>
        <p:spPr>
          <a:xfrm>
            <a:off x="642788" y="5668430"/>
            <a:ext cx="10939613" cy="9852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t-IT" sz="1067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This</a:t>
            </a:r>
            <a:r>
              <a:rPr lang="it-IT" sz="1067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Pilot training activity </a:t>
            </a:r>
            <a:r>
              <a:rPr lang="it-IT" sz="1067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has</a:t>
            </a:r>
            <a:r>
              <a:rPr lang="it-IT" sz="1067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it-IT" sz="1067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been</a:t>
            </a:r>
            <a:r>
              <a:rPr lang="it-IT" sz="1067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it-IT" sz="1067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67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67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67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Union – </a:t>
            </a:r>
            <a:r>
              <a:rPr lang="it-IT" sz="1067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NextGenerationEU</a:t>
            </a:r>
            <a:r>
              <a:rPr lang="it-IT" sz="1067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it-IT" sz="1067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within</a:t>
            </a:r>
            <a:r>
              <a:rPr lang="it-IT" sz="1067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the PNRR projects </a:t>
            </a:r>
            <a:r>
              <a:rPr lang="it-IT" sz="1067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67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it-IT" sz="1067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pursuant</a:t>
            </a:r>
            <a:r>
              <a:rPr lang="it-IT" sz="1067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to </a:t>
            </a:r>
            <a:r>
              <a:rPr lang="it-IT" sz="1067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Article</a:t>
            </a:r>
            <a:r>
              <a:rPr lang="it-IT" sz="1067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11, </a:t>
            </a:r>
            <a:r>
              <a:rPr lang="it-IT" sz="1067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paragraph</a:t>
            </a:r>
            <a:r>
              <a:rPr lang="it-IT" sz="1067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1, of </a:t>
            </a:r>
            <a:r>
              <a:rPr lang="it-IT" sz="1067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Notice</a:t>
            </a:r>
            <a:r>
              <a:rPr lang="it-IT" sz="1067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594/2024:</a:t>
            </a:r>
            <a:endParaRPr lang="it-IT" sz="1067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it-IT" sz="1067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“NFFA-DI cod. IR0000015,  Missione 4, “Istruzione e Ricerca” – Componente 2, “Dalla ricerca all'impresa” – Linea di investimento 3.1, “Fondo per la realizzazione di un sistema integrato di infrastrutture di ricerca e innovazione” – Azione 3.1.1, “Creazione di nuove IR o potenziamento di quelle esistenti che concorrono agli obiettivi di Eccellenza Scientifica di Horizon Europe e costituzione di reti” (CUP B53C22004310006).</a:t>
            </a:r>
            <a:endParaRPr lang="it-IT" sz="1067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it-IT" sz="1067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“EFC cod. SSU2024-00002,  Missione 4 "Istruzione e ricerca" - Componente  1, “Potenziamento dell'offerta dei servizi all'istruzione:  dagli  asili nido </a:t>
            </a:r>
            <a:r>
              <a:rPr lang="it-IT" sz="1067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all'universita'</a:t>
            </a:r>
            <a:r>
              <a:rPr lang="it-IT" sz="1067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” -  Investimento  3.4  “Didattica  e  competenze universitarie  avanzate”  -  Sub-Investimento  “Rafforzamento   delle scuole universitarie superiori” (CUP: G97G24000100007).</a:t>
            </a:r>
            <a:endParaRPr lang="it-IT" sz="1067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7EC9F568-CE54-23F8-4F95-22DD78AD87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5299" y="3399973"/>
            <a:ext cx="10907103" cy="743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FontTx/>
              <a:buNone/>
              <a:defRPr sz="5333"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it-IT" sz="5333" dirty="0">
                <a:latin typeface="Aptos" panose="020B0004020202020204" pitchFamily="34" charset="0"/>
              </a:rPr>
              <a:t>Title</a:t>
            </a:r>
            <a:endParaRPr lang="it-IT" dirty="0"/>
          </a:p>
        </p:txBody>
      </p:sp>
      <p:pic>
        <p:nvPicPr>
          <p:cNvPr id="17" name="Immagine 16" descr="Immagine che contiene cerchio, linea,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86DB2A9E-C519-6A26-182D-A631DFBB7A6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547" y="1698817"/>
            <a:ext cx="677564" cy="519359"/>
          </a:xfrm>
          <a:prstGeom prst="rect">
            <a:avLst/>
          </a:prstGeom>
        </p:spPr>
      </p:pic>
      <p:pic>
        <p:nvPicPr>
          <p:cNvPr id="25" name="Immagine 24" descr="Immagine che contiene testo, Carattere, Elementi grafici, grafica&#10;&#10;Il contenuto generato dall'IA potrebbe non essere corretto.">
            <a:extLst>
              <a:ext uri="{FF2B5EF4-FFF2-40B4-BE49-F238E27FC236}">
                <a16:creationId xmlns:a16="http://schemas.microsoft.com/office/drawing/2014/main" id="{1D060135-78DC-4226-52CE-492B694E4A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228" y="1750791"/>
            <a:ext cx="2220456" cy="415408"/>
          </a:xfrm>
          <a:prstGeom prst="rect">
            <a:avLst/>
          </a:prstGeom>
        </p:spPr>
      </p:pic>
      <p:pic>
        <p:nvPicPr>
          <p:cNvPr id="32" name="Elemento grafico 31">
            <a:extLst>
              <a:ext uri="{FF2B5EF4-FFF2-40B4-BE49-F238E27FC236}">
                <a16:creationId xmlns:a16="http://schemas.microsoft.com/office/drawing/2014/main" id="{06354B2F-532B-3A9A-2696-BCB997A020C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00067" y="1775792"/>
            <a:ext cx="1507317" cy="365409"/>
          </a:xfrm>
          <a:prstGeom prst="rect">
            <a:avLst/>
          </a:prstGeom>
        </p:spPr>
      </p:pic>
      <p:pic>
        <p:nvPicPr>
          <p:cNvPr id="34" name="Elemento grafico 33">
            <a:extLst>
              <a:ext uri="{FF2B5EF4-FFF2-40B4-BE49-F238E27FC236}">
                <a16:creationId xmlns:a16="http://schemas.microsoft.com/office/drawing/2014/main" id="{8C0849B0-9533-86C6-6D3B-081DD969640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374" y="1735240"/>
            <a:ext cx="2116028" cy="446513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105755EA-3B0F-F1C6-77B6-814B7EFCACFC}"/>
              </a:ext>
            </a:extLst>
          </p:cNvPr>
          <p:cNvSpPr txBox="1"/>
          <p:nvPr userDrawn="1"/>
        </p:nvSpPr>
        <p:spPr>
          <a:xfrm>
            <a:off x="3329787" y="1650719"/>
            <a:ext cx="2073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>
                <a:solidFill>
                  <a:schemeClr val="bg1"/>
                </a:solidFill>
                <a:latin typeface="Aptos" panose="020B0004020202020204" pitchFamily="34" charset="0"/>
              </a:rPr>
              <a:t>E-ARGO</a:t>
            </a:r>
          </a:p>
        </p:txBody>
      </p:sp>
    </p:spTree>
    <p:extLst>
      <p:ext uri="{BB962C8B-B14F-4D97-AF65-F5344CB8AC3E}">
        <p14:creationId xmlns:p14="http://schemas.microsoft.com/office/powerpoint/2010/main" val="69125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0CACEC-FE2A-0D53-B3AB-42EC8721E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FE19C-06D8-14AF-DA0D-7E0555F00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9F2E6-AD28-95D6-D5B1-5E8B0FF7C3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606907-3096-8A45-9881-C82B96BD8D7C}" type="datetimeFigureOut">
              <a:rPr lang="en-IT" smtClean="0"/>
              <a:t>22/10/25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AF3C0-826C-E27B-B2D1-B0CAAD969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4935D-7C04-F9D0-1EB7-008B50AB6C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21B302-2EBD-0847-A20F-6FDD5B44A2B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9539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71171FBF-1649-0016-047C-6CADBD7365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2449" y="1701800"/>
            <a:ext cx="10907103" cy="3215689"/>
          </a:xfrm>
        </p:spPr>
        <p:txBody>
          <a:bodyPr/>
          <a:lstStyle/>
          <a:p>
            <a:r>
              <a:rPr lang="en-US" dirty="0"/>
              <a:t>Advanced Python Programming</a:t>
            </a:r>
          </a:p>
          <a:p>
            <a:r>
              <a:rPr lang="en-US" dirty="0"/>
              <a:t>Webapp, Django and Object Relational Mapping (ORM)</a:t>
            </a:r>
          </a:p>
          <a:p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CBFD9BC-BAD2-5B6C-22E6-C410305BB8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920" y="4546869"/>
            <a:ext cx="7084680" cy="1255728"/>
          </a:xfrm>
        </p:spPr>
        <p:txBody>
          <a:bodyPr/>
          <a:lstStyle/>
          <a:p>
            <a:r>
              <a:rPr lang="it-IT" dirty="0"/>
              <a:t>Marco Prenassi</a:t>
            </a:r>
          </a:p>
          <a:p>
            <a:r>
              <a:rPr lang="it-IT" dirty="0" err="1"/>
              <a:t>Laboratory</a:t>
            </a:r>
            <a:r>
              <a:rPr lang="it-IT" dirty="0"/>
              <a:t> of Data Engineering, Area Science Park</a:t>
            </a:r>
          </a:p>
          <a:p>
            <a:r>
              <a:rPr lang="it-IT" dirty="0"/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D1A62-D5EA-9319-63A2-B40887DE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DFCE078-9156-5BD8-851D-7DB003EA3861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838199" y="1429790"/>
            <a:ext cx="10515600" cy="4604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600" b="1" dirty="0">
                <a:latin typeface="Aptos" panose="020B0004020202020204" pitchFamily="34" charset="0"/>
              </a:rPr>
              <a:t>CREATING A WEBAPP USING DJANGO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2181B3-E4A2-F327-5944-B4E0A33CD42A}"/>
              </a:ext>
            </a:extLst>
          </p:cNvPr>
          <p:cNvSpPr txBox="1"/>
          <p:nvPr/>
        </p:nvSpPr>
        <p:spPr>
          <a:xfrm>
            <a:off x="704357" y="2477464"/>
            <a:ext cx="3990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pip install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django</a:t>
            </a: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200CB7-881C-5A03-DA2E-4FC23850904A}"/>
              </a:ext>
            </a:extLst>
          </p:cNvPr>
          <p:cNvSpPr txBox="1"/>
          <p:nvPr/>
        </p:nvSpPr>
        <p:spPr>
          <a:xfrm>
            <a:off x="704357" y="2076332"/>
            <a:ext cx="6995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1) go to your </a:t>
            </a:r>
            <a:r>
              <a:rPr lang="en-GB" b="1" dirty="0" err="1"/>
              <a:t>venv</a:t>
            </a:r>
            <a:r>
              <a:rPr lang="en-GB" b="1" dirty="0"/>
              <a:t> (source …) and install </a:t>
            </a:r>
            <a:r>
              <a:rPr lang="en-GB" b="1" dirty="0" err="1"/>
              <a:t>django</a:t>
            </a:r>
            <a:endParaRPr lang="en-GB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92FD64-FE59-BAD0-25BC-5EA88B35E3F1}"/>
              </a:ext>
            </a:extLst>
          </p:cNvPr>
          <p:cNvSpPr txBox="1"/>
          <p:nvPr/>
        </p:nvSpPr>
        <p:spPr>
          <a:xfrm>
            <a:off x="704357" y="2817041"/>
            <a:ext cx="7751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2) create a folder that will contain your website (e.g., </a:t>
            </a:r>
            <a:r>
              <a:rPr lang="en-GB" b="1" dirty="0" err="1"/>
              <a:t>django_tutorial_site</a:t>
            </a:r>
            <a:r>
              <a:rPr lang="en-GB" b="1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F25D94-D215-DE66-9AB5-965526E04561}"/>
              </a:ext>
            </a:extLst>
          </p:cNvPr>
          <p:cNvSpPr txBox="1"/>
          <p:nvPr/>
        </p:nvSpPr>
        <p:spPr>
          <a:xfrm>
            <a:off x="773653" y="3186373"/>
            <a:ext cx="39903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–p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django_tutorial_site</a:t>
            </a: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cd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Django_tutorial_site</a:t>
            </a: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743F08-4A50-1CC4-8C5C-798DE6AFA83C}"/>
              </a:ext>
            </a:extLst>
          </p:cNvPr>
          <p:cNvSpPr txBox="1"/>
          <p:nvPr/>
        </p:nvSpPr>
        <p:spPr>
          <a:xfrm>
            <a:off x="704357" y="3709593"/>
            <a:ext cx="8256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3) create the Django site and the first webapp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F7C9D1-5987-32C6-ABB8-FF1271ED164B}"/>
              </a:ext>
            </a:extLst>
          </p:cNvPr>
          <p:cNvSpPr txBox="1"/>
          <p:nvPr/>
        </p:nvSpPr>
        <p:spPr>
          <a:xfrm>
            <a:off x="704356" y="4070048"/>
            <a:ext cx="66216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django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-admin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startproject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django_tutorial_site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python3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manage.py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startapp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django_tutorial_app</a:t>
            </a: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973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530A6-6E92-C5FB-5688-A823EDB2D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4D7D6DE-E0B3-CF2B-A291-3CBE83A5DEAE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838199" y="1429790"/>
            <a:ext cx="10515600" cy="4604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600" b="1" dirty="0">
                <a:latin typeface="Aptos" panose="020B0004020202020204" pitchFamily="34" charset="0"/>
              </a:rPr>
              <a:t>CREATING A WEBAPP USING DJANGO</a:t>
            </a:r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A77BCAF-16CF-6AE5-5A1E-F90BC4D83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2" y="1921853"/>
            <a:ext cx="7772400" cy="1695373"/>
          </a:xfrm>
          <a:prstGeom prst="rect">
            <a:avLst/>
          </a:prstGeom>
        </p:spPr>
      </p:pic>
      <p:pic>
        <p:nvPicPr>
          <p:cNvPr id="12" name="Picture 11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A6B704E-B689-D0D5-2CCD-DD21E834F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2" y="3753787"/>
            <a:ext cx="7772400" cy="248440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E3F561A-ADC4-F2E7-F0E2-D1BFC0D44B98}"/>
              </a:ext>
            </a:extLst>
          </p:cNvPr>
          <p:cNvSpPr txBox="1"/>
          <p:nvPr/>
        </p:nvSpPr>
        <p:spPr>
          <a:xfrm>
            <a:off x="8463505" y="1890194"/>
            <a:ext cx="28902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1) edit </a:t>
            </a:r>
            <a:r>
              <a:rPr lang="en-GB" b="1" dirty="0" err="1"/>
              <a:t>views.py</a:t>
            </a:r>
            <a:r>
              <a:rPr lang="en-GB" b="1" dirty="0"/>
              <a:t> inside the</a:t>
            </a:r>
          </a:p>
          <a:p>
            <a:pPr>
              <a:buNone/>
            </a:pPr>
            <a:r>
              <a:rPr lang="en-GB" b="1" dirty="0"/>
              <a:t>app folder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CC3EAE-E725-ECCE-D54A-3415259DDE93}"/>
              </a:ext>
            </a:extLst>
          </p:cNvPr>
          <p:cNvSpPr txBox="1"/>
          <p:nvPr/>
        </p:nvSpPr>
        <p:spPr>
          <a:xfrm>
            <a:off x="8463505" y="3713413"/>
            <a:ext cx="28902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2) </a:t>
            </a:r>
            <a:r>
              <a:rPr lang="en-GB" b="1" u="sng" dirty="0"/>
              <a:t>create</a:t>
            </a:r>
            <a:r>
              <a:rPr lang="en-GB" b="1" dirty="0"/>
              <a:t> a </a:t>
            </a:r>
            <a:r>
              <a:rPr lang="en-GB" b="1" dirty="0" err="1"/>
              <a:t>urls.py</a:t>
            </a:r>
            <a:r>
              <a:rPr lang="en-GB" b="1" dirty="0"/>
              <a:t> inside the app folder, and reference the single pages/views</a:t>
            </a:r>
          </a:p>
        </p:txBody>
      </p:sp>
    </p:spTree>
    <p:extLst>
      <p:ext uri="{BB962C8B-B14F-4D97-AF65-F5344CB8AC3E}">
        <p14:creationId xmlns:p14="http://schemas.microsoft.com/office/powerpoint/2010/main" val="1338905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D9FDE-030E-0A60-7C3D-F9D2B9091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35C5070-BE21-3CEB-A100-88E2831206EC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838199" y="1429790"/>
            <a:ext cx="10515600" cy="4604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600" b="1" dirty="0">
                <a:latin typeface="Aptos" panose="020B0004020202020204" pitchFamily="34" charset="0"/>
              </a:rPr>
              <a:t>CREATING A WEBAPP USING DJANGO</a:t>
            </a: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B9C7EE9-72F7-F37B-EAFB-F74A8909B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61" y="2310592"/>
            <a:ext cx="6874064" cy="2839713"/>
          </a:xfrm>
          <a:prstGeom prst="rect">
            <a:avLst/>
          </a:prstGeom>
        </p:spPr>
      </p:pic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549041C2-CDFC-C755-F7F6-7E806DDBB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642" y="5545123"/>
            <a:ext cx="3708400" cy="1016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D98FDF-F0A5-4CFC-DBEF-0A07C43F016C}"/>
              </a:ext>
            </a:extLst>
          </p:cNvPr>
          <p:cNvSpPr txBox="1"/>
          <p:nvPr/>
        </p:nvSpPr>
        <p:spPr>
          <a:xfrm>
            <a:off x="358661" y="1915727"/>
            <a:ext cx="849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3) </a:t>
            </a:r>
            <a:r>
              <a:rPr lang="en-GB" b="1" u="sng" dirty="0"/>
              <a:t>edit</a:t>
            </a:r>
            <a:r>
              <a:rPr lang="en-GB" b="1" dirty="0"/>
              <a:t> the </a:t>
            </a:r>
            <a:r>
              <a:rPr lang="en-GB" b="1" dirty="0" err="1"/>
              <a:t>urls.py</a:t>
            </a:r>
            <a:r>
              <a:rPr lang="en-GB" b="1" dirty="0"/>
              <a:t> inside the </a:t>
            </a:r>
            <a:r>
              <a:rPr lang="en-GB" b="1" u="sng" dirty="0"/>
              <a:t>SITE</a:t>
            </a:r>
            <a:r>
              <a:rPr lang="en-GB" b="1" dirty="0"/>
              <a:t> folder, and reference the webapp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CDFDF9-83B6-3330-E4C1-183CB08E35F4}"/>
              </a:ext>
            </a:extLst>
          </p:cNvPr>
          <p:cNvSpPr txBox="1"/>
          <p:nvPr/>
        </p:nvSpPr>
        <p:spPr>
          <a:xfrm>
            <a:off x="7490908" y="2041154"/>
            <a:ext cx="38628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4) inform the </a:t>
            </a:r>
            <a:r>
              <a:rPr lang="en-GB" b="1" u="sng" dirty="0"/>
              <a:t>SITE</a:t>
            </a:r>
            <a:r>
              <a:rPr lang="en-GB" b="1" dirty="0"/>
              <a:t> about your webapp writing </a:t>
            </a:r>
            <a:r>
              <a:rPr lang="en-GB" b="1" u="sng" dirty="0"/>
              <a:t>the name of the app in </a:t>
            </a:r>
            <a:r>
              <a:rPr lang="en-GB" b="1" u="sng" dirty="0" err="1"/>
              <a:t>settings.py</a:t>
            </a:r>
            <a:endParaRPr lang="en-GB" b="1" u="sng" dirty="0"/>
          </a:p>
        </p:txBody>
      </p:sp>
      <p:pic>
        <p:nvPicPr>
          <p:cNvPr id="13" name="Picture 1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8FC13F5-BF61-2107-4E8B-1E8021637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0908" y="3026950"/>
            <a:ext cx="3400821" cy="212335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7B8991-6613-DC50-7E4E-ED17FE30A7BB}"/>
              </a:ext>
            </a:extLst>
          </p:cNvPr>
          <p:cNvCxnSpPr/>
          <p:nvPr/>
        </p:nvCxnSpPr>
        <p:spPr>
          <a:xfrm>
            <a:off x="8006168" y="4970032"/>
            <a:ext cx="2603351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7E35120-1CA9-DCED-2D07-A0A447D3F91A}"/>
              </a:ext>
            </a:extLst>
          </p:cNvPr>
          <p:cNvSpPr txBox="1"/>
          <p:nvPr/>
        </p:nvSpPr>
        <p:spPr>
          <a:xfrm>
            <a:off x="556049" y="5729958"/>
            <a:ext cx="54555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5) run the server:</a:t>
            </a:r>
          </a:p>
          <a:p>
            <a:pPr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 python3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manage.py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runserver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8081</a:t>
            </a:r>
          </a:p>
        </p:txBody>
      </p:sp>
    </p:spTree>
    <p:extLst>
      <p:ext uri="{BB962C8B-B14F-4D97-AF65-F5344CB8AC3E}">
        <p14:creationId xmlns:p14="http://schemas.microsoft.com/office/powerpoint/2010/main" val="1270040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932F8-492B-CF5C-B473-55967EA3E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4AF15E1-3395-9634-3D17-37E32BD76538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838199" y="1429790"/>
            <a:ext cx="10515600" cy="4604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600" b="1" dirty="0">
                <a:latin typeface="Aptos" panose="020B0004020202020204" pitchFamily="34" charset="0"/>
              </a:rPr>
              <a:t>OBJECT RELATIONAL MAPPING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194AF1-0F9D-B7A7-EA0E-31C852E7C33E}"/>
              </a:ext>
            </a:extLst>
          </p:cNvPr>
          <p:cNvSpPr txBox="1"/>
          <p:nvPr/>
        </p:nvSpPr>
        <p:spPr>
          <a:xfrm>
            <a:off x="955995" y="2299430"/>
            <a:ext cx="46836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200" b="1" dirty="0"/>
              <a:t>OBJECT ORIENTED PROGRAMMING</a:t>
            </a:r>
            <a:endParaRPr lang="it-IT" sz="2200" b="1" dirty="0"/>
          </a:p>
          <a:p>
            <a:r>
              <a:rPr lang="it-IT" sz="2200" b="1" dirty="0"/>
              <a:t>WHY IS IT USED SO MUCH?</a:t>
            </a:r>
            <a:endParaRPr lang="en-IT" sz="2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AFACA3-F0CC-6E60-24A6-2EA1A41F99DF}"/>
              </a:ext>
            </a:extLst>
          </p:cNvPr>
          <p:cNvSpPr txBox="1"/>
          <p:nvPr/>
        </p:nvSpPr>
        <p:spPr>
          <a:xfrm>
            <a:off x="9824954" y="1950335"/>
            <a:ext cx="230206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GB" sz="2000" b="0" i="0" dirty="0">
                <a:solidFill>
                  <a:srgbClr val="212529"/>
                </a:solidFill>
                <a:effectLst/>
                <a:latin typeface="Aptos" panose="020B0004020202020204" pitchFamily="34" charset="0"/>
              </a:rPr>
              <a:t>Encapsulation</a:t>
            </a:r>
          </a:p>
          <a:p>
            <a:pPr algn="l">
              <a:buFont typeface="+mj-lt"/>
              <a:buAutoNum type="arabicPeriod"/>
            </a:pPr>
            <a:endParaRPr lang="en-GB" sz="2000" b="0" i="0" dirty="0">
              <a:solidFill>
                <a:srgbClr val="212529"/>
              </a:solidFill>
              <a:effectLst/>
              <a:latin typeface="Aptos" panose="020B00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en-GB" sz="2000" b="0" i="0" dirty="0">
              <a:solidFill>
                <a:srgbClr val="212529"/>
              </a:solidFill>
              <a:effectLst/>
              <a:latin typeface="Aptos" panose="020B00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en-GB" sz="2000" b="0" i="0" dirty="0">
              <a:solidFill>
                <a:srgbClr val="212529"/>
              </a:solidFill>
              <a:effectLst/>
              <a:latin typeface="Aptos" panose="020B00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GB" sz="2000" b="0" i="0" dirty="0">
                <a:solidFill>
                  <a:srgbClr val="212529"/>
                </a:solidFill>
                <a:effectLst/>
                <a:latin typeface="Aptos" panose="020B0004020202020204" pitchFamily="34" charset="0"/>
              </a:rPr>
              <a:t>Abstraction</a:t>
            </a:r>
          </a:p>
          <a:p>
            <a:pPr algn="l">
              <a:buFont typeface="+mj-lt"/>
              <a:buAutoNum type="arabicPeriod"/>
            </a:pPr>
            <a:endParaRPr lang="en-GB" sz="2000" b="0" i="0" dirty="0">
              <a:solidFill>
                <a:srgbClr val="212529"/>
              </a:solidFill>
              <a:effectLst/>
              <a:latin typeface="Aptos" panose="020B00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en-GB" sz="2000" b="0" i="0" dirty="0">
              <a:solidFill>
                <a:srgbClr val="212529"/>
              </a:solidFill>
              <a:effectLst/>
              <a:latin typeface="Aptos" panose="020B00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GB" sz="2000" b="0" i="0" dirty="0">
                <a:solidFill>
                  <a:srgbClr val="212529"/>
                </a:solidFill>
                <a:effectLst/>
                <a:latin typeface="Aptos" panose="020B0004020202020204" pitchFamily="34" charset="0"/>
              </a:rPr>
              <a:t>Inheritance</a:t>
            </a:r>
          </a:p>
          <a:p>
            <a:pPr algn="l">
              <a:buFont typeface="+mj-lt"/>
              <a:buAutoNum type="arabicPeriod"/>
            </a:pPr>
            <a:endParaRPr lang="en-GB" sz="2000" b="0" i="0" dirty="0">
              <a:solidFill>
                <a:srgbClr val="212529"/>
              </a:solidFill>
              <a:effectLst/>
              <a:latin typeface="Aptos" panose="020B00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en-GB" sz="2000" b="0" i="0" dirty="0">
              <a:solidFill>
                <a:srgbClr val="212529"/>
              </a:solidFill>
              <a:effectLst/>
              <a:latin typeface="Aptos" panose="020B00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GB" sz="2000" b="0" i="0" dirty="0">
                <a:solidFill>
                  <a:srgbClr val="212529"/>
                </a:solidFill>
                <a:effectLst/>
                <a:latin typeface="Aptos" panose="020B0004020202020204" pitchFamily="34" charset="0"/>
              </a:rPr>
              <a:t>Polymorphism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4EBF61A-BB87-8AE4-FD2E-836308E5C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6808" y="4429498"/>
            <a:ext cx="1491342" cy="149134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2416EF0D-4A75-4144-AC03-7BE8AF0E59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4546912"/>
            <a:ext cx="1264919" cy="12649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16F563-36C8-6606-EB5D-E7693BCF40C0}"/>
              </a:ext>
            </a:extLst>
          </p:cNvPr>
          <p:cNvSpPr txBox="1"/>
          <p:nvPr/>
        </p:nvSpPr>
        <p:spPr>
          <a:xfrm>
            <a:off x="1205935" y="4126028"/>
            <a:ext cx="981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b="1" dirty="0"/>
              <a:t>CLASS</a:t>
            </a:r>
            <a:endParaRPr lang="en-IT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B200FF-4343-16A6-F95F-1C76A63CAADD}"/>
              </a:ext>
            </a:extLst>
          </p:cNvPr>
          <p:cNvSpPr txBox="1"/>
          <p:nvPr/>
        </p:nvSpPr>
        <p:spPr>
          <a:xfrm>
            <a:off x="5719350" y="4117623"/>
            <a:ext cx="1156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b="1" dirty="0"/>
              <a:t>OBJECT</a:t>
            </a:r>
            <a:endParaRPr lang="en-IT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AE6FC3-58D4-E72B-6AAC-1DBDBAB63A2A}"/>
              </a:ext>
            </a:extLst>
          </p:cNvPr>
          <p:cNvSpPr txBox="1"/>
          <p:nvPr/>
        </p:nvSpPr>
        <p:spPr>
          <a:xfrm>
            <a:off x="3603887" y="4117623"/>
            <a:ext cx="698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b="1" dirty="0"/>
              <a:t>OOP</a:t>
            </a:r>
            <a:endParaRPr lang="en-IT" dirty="0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CF4548AC-1BEA-2918-3B09-51604EE7B0EA}"/>
              </a:ext>
            </a:extLst>
          </p:cNvPr>
          <p:cNvSpPr/>
          <p:nvPr/>
        </p:nvSpPr>
        <p:spPr>
          <a:xfrm rot="16200000">
            <a:off x="3612031" y="4115638"/>
            <a:ext cx="719375" cy="24237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A68DBA-26BF-124F-F77F-F0076AD6C5B6}"/>
              </a:ext>
            </a:extLst>
          </p:cNvPr>
          <p:cNvSpPr txBox="1"/>
          <p:nvPr/>
        </p:nvSpPr>
        <p:spPr>
          <a:xfrm>
            <a:off x="2293088" y="3626721"/>
            <a:ext cx="4011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OBJECT-ORIENTED PARADIGM</a:t>
            </a:r>
            <a:endParaRPr lang="en-IT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41169F-F162-811B-489E-B14BD550307F}"/>
              </a:ext>
            </a:extLst>
          </p:cNvPr>
          <p:cNvGrpSpPr/>
          <p:nvPr/>
        </p:nvGrpSpPr>
        <p:grpSpPr>
          <a:xfrm>
            <a:off x="8442890" y="1686182"/>
            <a:ext cx="901905" cy="824920"/>
            <a:chOff x="8897020" y="1430877"/>
            <a:chExt cx="1335436" cy="122144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C67493D-A592-FB52-3135-1719010D1A63}"/>
                </a:ext>
              </a:extLst>
            </p:cNvPr>
            <p:cNvSpPr/>
            <p:nvPr/>
          </p:nvSpPr>
          <p:spPr>
            <a:xfrm>
              <a:off x="8897020" y="1781273"/>
              <a:ext cx="866067" cy="8710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0EDBCCB-3BE3-9FE5-A867-9BC6E65AFCEE}"/>
                </a:ext>
              </a:extLst>
            </p:cNvPr>
            <p:cNvSpPr/>
            <p:nvPr/>
          </p:nvSpPr>
          <p:spPr>
            <a:xfrm>
              <a:off x="8963206" y="2189701"/>
              <a:ext cx="244711" cy="254896"/>
            </a:xfrm>
            <a:prstGeom prst="ellips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39BEBB6-A64E-2FE0-DD2F-53AD7E204D9E}"/>
                </a:ext>
              </a:extLst>
            </p:cNvPr>
            <p:cNvSpPr/>
            <p:nvPr/>
          </p:nvSpPr>
          <p:spPr>
            <a:xfrm>
              <a:off x="9296309" y="2317149"/>
              <a:ext cx="244711" cy="254896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C136896-3E6C-A38C-9FE2-208A8E1D20CA}"/>
                </a:ext>
              </a:extLst>
            </p:cNvPr>
            <p:cNvSpPr/>
            <p:nvPr/>
          </p:nvSpPr>
          <p:spPr>
            <a:xfrm>
              <a:off x="9376863" y="1979332"/>
              <a:ext cx="244711" cy="254896"/>
            </a:xfrm>
            <a:prstGeom prst="ellipse">
              <a:avLst/>
            </a:prstGeom>
            <a:solidFill>
              <a:srgbClr val="FFC000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4F0F34B-57BF-1CF9-F3E2-C0CD422E482C}"/>
                </a:ext>
              </a:extLst>
            </p:cNvPr>
            <p:cNvSpPr/>
            <p:nvPr/>
          </p:nvSpPr>
          <p:spPr>
            <a:xfrm>
              <a:off x="9864114" y="1526377"/>
              <a:ext cx="244711" cy="25489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B7222B3-A375-6EEC-9720-1E8F100F7B5B}"/>
                </a:ext>
              </a:extLst>
            </p:cNvPr>
            <p:cNvCxnSpPr>
              <a:cxnSpLocks/>
            </p:cNvCxnSpPr>
            <p:nvPr/>
          </p:nvCxnSpPr>
          <p:spPr>
            <a:xfrm>
              <a:off x="9790182" y="1430877"/>
              <a:ext cx="414780" cy="48286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DA5D15A-4296-EF1B-7F29-5CC3622D1C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2687" y="1469216"/>
              <a:ext cx="469769" cy="36921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556E987-CBFC-F277-60B7-5BB7198B8111}"/>
              </a:ext>
            </a:extLst>
          </p:cNvPr>
          <p:cNvGrpSpPr/>
          <p:nvPr/>
        </p:nvGrpSpPr>
        <p:grpSpPr>
          <a:xfrm>
            <a:off x="8150927" y="2820232"/>
            <a:ext cx="1323777" cy="855408"/>
            <a:chOff x="8224541" y="2887170"/>
            <a:chExt cx="1665398" cy="1076159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EAA7710-7FE2-2A8A-796B-8513E44FC09D}"/>
                </a:ext>
              </a:extLst>
            </p:cNvPr>
            <p:cNvSpPr/>
            <p:nvPr/>
          </p:nvSpPr>
          <p:spPr>
            <a:xfrm>
              <a:off x="8224541" y="3069985"/>
              <a:ext cx="841795" cy="846638"/>
            </a:xfrm>
            <a:custGeom>
              <a:avLst/>
              <a:gdLst>
                <a:gd name="connsiteX0" fmla="*/ 0 w 841795"/>
                <a:gd name="connsiteY0" fmla="*/ 423319 h 846638"/>
                <a:gd name="connsiteX1" fmla="*/ 420898 w 841795"/>
                <a:gd name="connsiteY1" fmla="*/ 0 h 846638"/>
                <a:gd name="connsiteX2" fmla="*/ 841796 w 841795"/>
                <a:gd name="connsiteY2" fmla="*/ 423319 h 846638"/>
                <a:gd name="connsiteX3" fmla="*/ 420898 w 841795"/>
                <a:gd name="connsiteY3" fmla="*/ 846638 h 846638"/>
                <a:gd name="connsiteX4" fmla="*/ 0 w 841795"/>
                <a:gd name="connsiteY4" fmla="*/ 423319 h 846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1795" h="846638" fill="none" extrusionOk="0">
                  <a:moveTo>
                    <a:pt x="0" y="423319"/>
                  </a:moveTo>
                  <a:cubicBezTo>
                    <a:pt x="33807" y="148496"/>
                    <a:pt x="186122" y="-19817"/>
                    <a:pt x="420898" y="0"/>
                  </a:cubicBezTo>
                  <a:cubicBezTo>
                    <a:pt x="649846" y="-5842"/>
                    <a:pt x="802688" y="208713"/>
                    <a:pt x="841796" y="423319"/>
                  </a:cubicBezTo>
                  <a:cubicBezTo>
                    <a:pt x="855252" y="660532"/>
                    <a:pt x="697860" y="840502"/>
                    <a:pt x="420898" y="846638"/>
                  </a:cubicBezTo>
                  <a:cubicBezTo>
                    <a:pt x="197537" y="854832"/>
                    <a:pt x="4286" y="660265"/>
                    <a:pt x="0" y="423319"/>
                  </a:cubicBezTo>
                  <a:close/>
                </a:path>
                <a:path w="841795" h="846638" stroke="0" extrusionOk="0">
                  <a:moveTo>
                    <a:pt x="0" y="423319"/>
                  </a:moveTo>
                  <a:cubicBezTo>
                    <a:pt x="57925" y="155403"/>
                    <a:pt x="243647" y="-13161"/>
                    <a:pt x="420898" y="0"/>
                  </a:cubicBezTo>
                  <a:cubicBezTo>
                    <a:pt x="672201" y="-49261"/>
                    <a:pt x="855756" y="208920"/>
                    <a:pt x="841796" y="423319"/>
                  </a:cubicBezTo>
                  <a:cubicBezTo>
                    <a:pt x="818092" y="625517"/>
                    <a:pt x="653637" y="852736"/>
                    <a:pt x="420898" y="846638"/>
                  </a:cubicBezTo>
                  <a:cubicBezTo>
                    <a:pt x="253260" y="837185"/>
                    <a:pt x="-19419" y="663705"/>
                    <a:pt x="0" y="423319"/>
                  </a:cubicBez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prstDash val="sysDot"/>
              <a:extLst>
                <a:ext uri="{C807C97D-BFC1-408E-A445-0C87EB9F89A2}">
                  <ask:lineSketchStyleProps xmlns:ask="http://schemas.microsoft.com/office/drawing/2018/sketchyshapes" sd="1363887920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D06CF8A-07B6-DA73-3CCA-AD32D7D91BFC}"/>
                </a:ext>
              </a:extLst>
            </p:cNvPr>
            <p:cNvSpPr/>
            <p:nvPr/>
          </p:nvSpPr>
          <p:spPr>
            <a:xfrm>
              <a:off x="9419707" y="2887170"/>
              <a:ext cx="469770" cy="47247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D08D1F6-62D8-4208-3F48-71B0342D5239}"/>
                </a:ext>
              </a:extLst>
            </p:cNvPr>
            <p:cNvSpPr/>
            <p:nvPr/>
          </p:nvSpPr>
          <p:spPr>
            <a:xfrm>
              <a:off x="9420169" y="3490856"/>
              <a:ext cx="469770" cy="472473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860005D-64C9-745C-E612-06249DF04612}"/>
                </a:ext>
              </a:extLst>
            </p:cNvPr>
            <p:cNvCxnSpPr>
              <a:stCxn id="21" idx="7"/>
              <a:endCxn id="22" idx="2"/>
            </p:cNvCxnSpPr>
            <p:nvPr/>
          </p:nvCxnSpPr>
          <p:spPr>
            <a:xfrm flipV="1">
              <a:off x="8943058" y="3123407"/>
              <a:ext cx="476649" cy="7056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334530C-F032-7974-D624-E2406CD0FC0A}"/>
                </a:ext>
              </a:extLst>
            </p:cNvPr>
            <p:cNvCxnSpPr>
              <a:cxnSpLocks/>
              <a:stCxn id="21" idx="5"/>
              <a:endCxn id="23" idx="2"/>
            </p:cNvCxnSpPr>
            <p:nvPr/>
          </p:nvCxnSpPr>
          <p:spPr>
            <a:xfrm flipV="1">
              <a:off x="8943058" y="3727093"/>
              <a:ext cx="477111" cy="655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75D6BAF-2A07-A14F-E321-1E2765225434}"/>
              </a:ext>
            </a:extLst>
          </p:cNvPr>
          <p:cNvGrpSpPr/>
          <p:nvPr/>
        </p:nvGrpSpPr>
        <p:grpSpPr>
          <a:xfrm>
            <a:off x="8101685" y="3959447"/>
            <a:ext cx="1477067" cy="661609"/>
            <a:chOff x="7910662" y="4079639"/>
            <a:chExt cx="1957129" cy="876638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5D167FE-4828-1334-05E0-285DAAA30A83}"/>
                </a:ext>
              </a:extLst>
            </p:cNvPr>
            <p:cNvSpPr/>
            <p:nvPr/>
          </p:nvSpPr>
          <p:spPr>
            <a:xfrm>
              <a:off x="7910662" y="4079639"/>
              <a:ext cx="866067" cy="8710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5B61747-9589-B602-0E8D-33B66870E3D9}"/>
                </a:ext>
              </a:extLst>
            </p:cNvPr>
            <p:cNvSpPr/>
            <p:nvPr/>
          </p:nvSpPr>
          <p:spPr>
            <a:xfrm>
              <a:off x="7976848" y="4488067"/>
              <a:ext cx="244711" cy="254896"/>
            </a:xfrm>
            <a:prstGeom prst="ellips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F997E05-93B2-BD1F-02AF-0B5592283334}"/>
                </a:ext>
              </a:extLst>
            </p:cNvPr>
            <p:cNvSpPr/>
            <p:nvPr/>
          </p:nvSpPr>
          <p:spPr>
            <a:xfrm>
              <a:off x="8309951" y="4615515"/>
              <a:ext cx="244711" cy="254896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1A537C9-237A-4C34-AD06-F75BB126C473}"/>
                </a:ext>
              </a:extLst>
            </p:cNvPr>
            <p:cNvSpPr/>
            <p:nvPr/>
          </p:nvSpPr>
          <p:spPr>
            <a:xfrm>
              <a:off x="9001724" y="4085227"/>
              <a:ext cx="866067" cy="8710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F1815EC-FD8F-EE84-4ED5-C5F3CACC9B6C}"/>
                </a:ext>
              </a:extLst>
            </p:cNvPr>
            <p:cNvSpPr/>
            <p:nvPr/>
          </p:nvSpPr>
          <p:spPr>
            <a:xfrm>
              <a:off x="9067910" y="4493655"/>
              <a:ext cx="244711" cy="254896"/>
            </a:xfrm>
            <a:prstGeom prst="ellips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CC4C539-A22F-C471-5D8B-8A6B355EB0A2}"/>
                </a:ext>
              </a:extLst>
            </p:cNvPr>
            <p:cNvSpPr/>
            <p:nvPr/>
          </p:nvSpPr>
          <p:spPr>
            <a:xfrm>
              <a:off x="9401013" y="4621103"/>
              <a:ext cx="244711" cy="254896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4F6D144-2586-9C45-04F7-EFD1813DFA9F}"/>
                </a:ext>
              </a:extLst>
            </p:cNvPr>
            <p:cNvSpPr/>
            <p:nvPr/>
          </p:nvSpPr>
          <p:spPr>
            <a:xfrm>
              <a:off x="9481567" y="4283286"/>
              <a:ext cx="244711" cy="254896"/>
            </a:xfrm>
            <a:prstGeom prst="ellipse">
              <a:avLst/>
            </a:prstGeom>
            <a:solidFill>
              <a:srgbClr val="FFC000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2518829-E847-48A4-72E6-33B5B9F62933}"/>
                </a:ext>
              </a:extLst>
            </p:cNvPr>
            <p:cNvCxnSpPr>
              <a:cxnSpLocks/>
              <a:stCxn id="27" idx="6"/>
              <a:endCxn id="30" idx="2"/>
            </p:cNvCxnSpPr>
            <p:nvPr/>
          </p:nvCxnSpPr>
          <p:spPr>
            <a:xfrm>
              <a:off x="8776729" y="4515164"/>
              <a:ext cx="224995" cy="55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A9850A7-3197-A771-DD06-23F9AB6290EA}"/>
              </a:ext>
            </a:extLst>
          </p:cNvPr>
          <p:cNvGrpSpPr/>
          <p:nvPr/>
        </p:nvGrpSpPr>
        <p:grpSpPr>
          <a:xfrm>
            <a:off x="8101518" y="4915518"/>
            <a:ext cx="1461034" cy="654427"/>
            <a:chOff x="7910662" y="5119293"/>
            <a:chExt cx="1957129" cy="876638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383786F-A11D-7E84-7593-B4D00027A088}"/>
                </a:ext>
              </a:extLst>
            </p:cNvPr>
            <p:cNvSpPr/>
            <p:nvPr/>
          </p:nvSpPr>
          <p:spPr>
            <a:xfrm>
              <a:off x="7910662" y="5119293"/>
              <a:ext cx="866067" cy="8710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A1DFD5D-B84C-81AB-AFE2-72C5ACC50E96}"/>
                </a:ext>
              </a:extLst>
            </p:cNvPr>
            <p:cNvSpPr/>
            <p:nvPr/>
          </p:nvSpPr>
          <p:spPr>
            <a:xfrm>
              <a:off x="7976848" y="5527721"/>
              <a:ext cx="244711" cy="254896"/>
            </a:xfrm>
            <a:prstGeom prst="ellips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979C8A2-10DB-B630-FA7D-0AFC18A54222}"/>
                </a:ext>
              </a:extLst>
            </p:cNvPr>
            <p:cNvSpPr/>
            <p:nvPr/>
          </p:nvSpPr>
          <p:spPr>
            <a:xfrm>
              <a:off x="8309951" y="5655169"/>
              <a:ext cx="244711" cy="254896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4E1B0C9-6587-2F04-A169-E089105D5138}"/>
                </a:ext>
              </a:extLst>
            </p:cNvPr>
            <p:cNvSpPr/>
            <p:nvPr/>
          </p:nvSpPr>
          <p:spPr>
            <a:xfrm>
              <a:off x="9001724" y="5124881"/>
              <a:ext cx="866067" cy="8710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E21A583-85B3-25E8-4381-A5242EBC520D}"/>
                </a:ext>
              </a:extLst>
            </p:cNvPr>
            <p:cNvSpPr/>
            <p:nvPr/>
          </p:nvSpPr>
          <p:spPr>
            <a:xfrm>
              <a:off x="9067910" y="5533309"/>
              <a:ext cx="244711" cy="254896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CFE10D7-8C17-7810-5B53-1B0C73636D6F}"/>
                </a:ext>
              </a:extLst>
            </p:cNvPr>
            <p:cNvSpPr/>
            <p:nvPr/>
          </p:nvSpPr>
          <p:spPr>
            <a:xfrm>
              <a:off x="9401013" y="5660757"/>
              <a:ext cx="244711" cy="254896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</p:grpSp>
    </p:spTree>
    <p:extLst>
      <p:ext uri="{BB962C8B-B14F-4D97-AF65-F5344CB8AC3E}">
        <p14:creationId xmlns:p14="http://schemas.microsoft.com/office/powerpoint/2010/main" val="26913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3D443-B467-F11C-BA8F-906C34CE6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772016D-B12C-66C4-EE84-1E454D3B3A24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838199" y="1429790"/>
            <a:ext cx="10515600" cy="4604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sz="2800" b="1" dirty="0"/>
              <a:t>OBJECT ORIENTED PROGRAMMING AND </a:t>
            </a:r>
            <a:r>
              <a:rPr lang="en-GB" sz="2800" b="1" dirty="0"/>
              <a:t>STRUCTURED QUERY LANGUAGE</a:t>
            </a:r>
            <a:endParaRPr lang="en-IT" sz="2800" b="1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8B1373-7CC7-3121-4F3D-1D654BBF1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5634" y="3175768"/>
            <a:ext cx="1491342" cy="1491342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A7A785C9-050D-4EC9-07BD-6C9E08BFAD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47026" y="3293182"/>
            <a:ext cx="1264919" cy="1264919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2C9DD15C-6985-694D-7B60-F6FEDEB023BE}"/>
              </a:ext>
            </a:extLst>
          </p:cNvPr>
          <p:cNvSpPr txBox="1"/>
          <p:nvPr/>
        </p:nvSpPr>
        <p:spPr>
          <a:xfrm>
            <a:off x="3214761" y="2872298"/>
            <a:ext cx="981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b="1" dirty="0"/>
              <a:t>CLASS</a:t>
            </a:r>
            <a:endParaRPr lang="en-IT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CF8DDE-F6D4-FDB9-5336-9626B2688E4B}"/>
              </a:ext>
            </a:extLst>
          </p:cNvPr>
          <p:cNvSpPr txBox="1"/>
          <p:nvPr/>
        </p:nvSpPr>
        <p:spPr>
          <a:xfrm>
            <a:off x="3127231" y="4883104"/>
            <a:ext cx="1156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b="1" dirty="0"/>
              <a:t>SCHEMA</a:t>
            </a:r>
            <a:endParaRPr lang="en-IT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759D97-A3BC-0711-C295-335D995FF61D}"/>
              </a:ext>
            </a:extLst>
          </p:cNvPr>
          <p:cNvSpPr txBox="1"/>
          <p:nvPr/>
        </p:nvSpPr>
        <p:spPr>
          <a:xfrm>
            <a:off x="7728176" y="2863893"/>
            <a:ext cx="1156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b="1" dirty="0"/>
              <a:t>OBJECT</a:t>
            </a:r>
            <a:endParaRPr lang="en-IT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766AD3-5BE9-A8D2-7EA5-3A219E9FAFDA}"/>
              </a:ext>
            </a:extLst>
          </p:cNvPr>
          <p:cNvSpPr txBox="1"/>
          <p:nvPr/>
        </p:nvSpPr>
        <p:spPr>
          <a:xfrm>
            <a:off x="7633273" y="4883104"/>
            <a:ext cx="1323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b="1" dirty="0"/>
              <a:t>INSTANCE</a:t>
            </a:r>
            <a:endParaRPr lang="en-IT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5ADD27-2D9F-EF5C-752E-37B05C25DAC7}"/>
              </a:ext>
            </a:extLst>
          </p:cNvPr>
          <p:cNvSpPr txBox="1"/>
          <p:nvPr/>
        </p:nvSpPr>
        <p:spPr>
          <a:xfrm>
            <a:off x="5612713" y="2863893"/>
            <a:ext cx="698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b="1" dirty="0"/>
              <a:t>OOP</a:t>
            </a:r>
            <a:endParaRPr lang="en-IT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2874AC-196A-E243-EBD3-4D73D08A7FC9}"/>
              </a:ext>
            </a:extLst>
          </p:cNvPr>
          <p:cNvSpPr txBox="1"/>
          <p:nvPr/>
        </p:nvSpPr>
        <p:spPr>
          <a:xfrm>
            <a:off x="5609026" y="4883104"/>
            <a:ext cx="698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b="1" dirty="0"/>
              <a:t>SQL</a:t>
            </a:r>
            <a:endParaRPr lang="en-IT" dirty="0"/>
          </a:p>
        </p:txBody>
      </p:sp>
      <p:sp>
        <p:nvSpPr>
          <p:cNvPr id="51" name="Down Arrow 50">
            <a:extLst>
              <a:ext uri="{FF2B5EF4-FFF2-40B4-BE49-F238E27FC236}">
                <a16:creationId xmlns:a16="http://schemas.microsoft.com/office/drawing/2014/main" id="{E28678BF-F75E-DE61-79F1-6C0CFC7F5E05}"/>
              </a:ext>
            </a:extLst>
          </p:cNvPr>
          <p:cNvSpPr/>
          <p:nvPr/>
        </p:nvSpPr>
        <p:spPr>
          <a:xfrm rot="16200000">
            <a:off x="5620857" y="2861908"/>
            <a:ext cx="719375" cy="24237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C1890A-7F73-220C-9F38-57F8756946D4}"/>
              </a:ext>
            </a:extLst>
          </p:cNvPr>
          <p:cNvSpPr txBox="1"/>
          <p:nvPr/>
        </p:nvSpPr>
        <p:spPr>
          <a:xfrm>
            <a:off x="4301914" y="2372991"/>
            <a:ext cx="4011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OBJECT-ORIENTED PARADIGM</a:t>
            </a:r>
            <a:endParaRPr lang="en-IT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663DF6-3931-AB98-985B-346F592E2F20}"/>
              </a:ext>
            </a:extLst>
          </p:cNvPr>
          <p:cNvSpPr txBox="1"/>
          <p:nvPr/>
        </p:nvSpPr>
        <p:spPr>
          <a:xfrm>
            <a:off x="4999598" y="5365906"/>
            <a:ext cx="21928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RELATIONAL DB</a:t>
            </a:r>
            <a:endParaRPr lang="en-IT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F65267-6965-AFD6-737A-D4C12052E250}"/>
              </a:ext>
            </a:extLst>
          </p:cNvPr>
          <p:cNvSpPr txBox="1"/>
          <p:nvPr/>
        </p:nvSpPr>
        <p:spPr>
          <a:xfrm>
            <a:off x="1218105" y="6039523"/>
            <a:ext cx="97557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800" b="1" dirty="0"/>
              <a:t>EVERYTHING ELSE (PRETTY MUCH) IS DIFFERENT</a:t>
            </a:r>
          </a:p>
          <a:p>
            <a:r>
              <a:rPr lang="en-IT" b="1" dirty="0"/>
              <a:t>ALTHOUGHT THEY BOTH COULD STORE DATA (Object Oriented DBMS)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547357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ADBFA-1469-D094-4C54-4606DC024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6546847-D6E7-5791-5D13-3B7783695075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838199" y="1429790"/>
            <a:ext cx="10515600" cy="4604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sz="2800" b="1" dirty="0"/>
              <a:t>OBJECT ORIENTED PROGRAMMING AND </a:t>
            </a:r>
            <a:r>
              <a:rPr lang="en-GB" sz="2800" b="1" dirty="0"/>
              <a:t>STRUCTURED QUERY LANGUAGE</a:t>
            </a:r>
            <a:endParaRPr lang="en-IT" sz="2800" b="1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5827D6C-146F-BB63-CEB9-A57F9E7C8E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5634" y="3175768"/>
            <a:ext cx="1491342" cy="1491342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C95D8D47-EE4D-24E1-5A49-E96F989BB2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47026" y="3293182"/>
            <a:ext cx="1264919" cy="1264919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0DE573F4-4506-9D3C-FD42-220207A98983}"/>
              </a:ext>
            </a:extLst>
          </p:cNvPr>
          <p:cNvSpPr txBox="1"/>
          <p:nvPr/>
        </p:nvSpPr>
        <p:spPr>
          <a:xfrm>
            <a:off x="3214761" y="2872298"/>
            <a:ext cx="981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b="1" dirty="0"/>
              <a:t>CLASS</a:t>
            </a:r>
            <a:endParaRPr lang="en-IT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25D9B3-B06C-553C-C5DD-8D164099A9B9}"/>
              </a:ext>
            </a:extLst>
          </p:cNvPr>
          <p:cNvSpPr txBox="1"/>
          <p:nvPr/>
        </p:nvSpPr>
        <p:spPr>
          <a:xfrm>
            <a:off x="3127231" y="4883104"/>
            <a:ext cx="1156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b="1" dirty="0"/>
              <a:t>SCHEMA</a:t>
            </a:r>
            <a:endParaRPr lang="en-IT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C655AC-040C-2BD9-F7D5-34FECAED8F44}"/>
              </a:ext>
            </a:extLst>
          </p:cNvPr>
          <p:cNvSpPr txBox="1"/>
          <p:nvPr/>
        </p:nvSpPr>
        <p:spPr>
          <a:xfrm>
            <a:off x="7728176" y="2863893"/>
            <a:ext cx="1156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b="1" dirty="0"/>
              <a:t>OBJECT</a:t>
            </a:r>
            <a:endParaRPr lang="en-IT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8AE395-38AB-F6E6-C6C9-D59F70AEA65E}"/>
              </a:ext>
            </a:extLst>
          </p:cNvPr>
          <p:cNvSpPr txBox="1"/>
          <p:nvPr/>
        </p:nvSpPr>
        <p:spPr>
          <a:xfrm>
            <a:off x="7633273" y="4883104"/>
            <a:ext cx="1323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b="1" dirty="0"/>
              <a:t>INSTANCE</a:t>
            </a:r>
            <a:endParaRPr lang="en-IT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CDF11B-2A65-20F2-5440-EEA13B774E17}"/>
              </a:ext>
            </a:extLst>
          </p:cNvPr>
          <p:cNvSpPr txBox="1"/>
          <p:nvPr/>
        </p:nvSpPr>
        <p:spPr>
          <a:xfrm>
            <a:off x="5612713" y="2863893"/>
            <a:ext cx="698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b="1" dirty="0"/>
              <a:t>OOP</a:t>
            </a:r>
            <a:endParaRPr lang="en-IT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5B58D9-8585-0656-C7E2-6F493D6849EE}"/>
              </a:ext>
            </a:extLst>
          </p:cNvPr>
          <p:cNvSpPr txBox="1"/>
          <p:nvPr/>
        </p:nvSpPr>
        <p:spPr>
          <a:xfrm>
            <a:off x="5609026" y="4883104"/>
            <a:ext cx="698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b="1" dirty="0"/>
              <a:t>SQL</a:t>
            </a:r>
            <a:endParaRPr lang="en-IT" dirty="0"/>
          </a:p>
        </p:txBody>
      </p:sp>
      <p:sp>
        <p:nvSpPr>
          <p:cNvPr id="51" name="Down Arrow 50">
            <a:extLst>
              <a:ext uri="{FF2B5EF4-FFF2-40B4-BE49-F238E27FC236}">
                <a16:creationId xmlns:a16="http://schemas.microsoft.com/office/drawing/2014/main" id="{CD74A72A-036C-2CD9-DD2D-6CD45B7D437C}"/>
              </a:ext>
            </a:extLst>
          </p:cNvPr>
          <p:cNvSpPr/>
          <p:nvPr/>
        </p:nvSpPr>
        <p:spPr>
          <a:xfrm rot="16200000">
            <a:off x="5620857" y="2861908"/>
            <a:ext cx="719375" cy="24237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D7C81A-F6E3-862F-E344-DC10A2C83102}"/>
              </a:ext>
            </a:extLst>
          </p:cNvPr>
          <p:cNvSpPr txBox="1"/>
          <p:nvPr/>
        </p:nvSpPr>
        <p:spPr>
          <a:xfrm>
            <a:off x="4301914" y="2372991"/>
            <a:ext cx="4011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OBJECT-ORIENTED PARADIGM</a:t>
            </a:r>
            <a:endParaRPr lang="en-IT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3F9B200-232A-94AA-DA46-DAB9EFA2309E}"/>
              </a:ext>
            </a:extLst>
          </p:cNvPr>
          <p:cNvSpPr txBox="1"/>
          <p:nvPr/>
        </p:nvSpPr>
        <p:spPr>
          <a:xfrm>
            <a:off x="4999598" y="5365906"/>
            <a:ext cx="21928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RELATIONAL DB</a:t>
            </a:r>
            <a:endParaRPr lang="en-IT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BF2D75E-7BAA-D72A-55D2-05EED5286CCE}"/>
              </a:ext>
            </a:extLst>
          </p:cNvPr>
          <p:cNvSpPr txBox="1"/>
          <p:nvPr/>
        </p:nvSpPr>
        <p:spPr>
          <a:xfrm>
            <a:off x="1218105" y="6039523"/>
            <a:ext cx="97557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800" b="1" dirty="0"/>
              <a:t>EVERYTHING ELSE (PRETTY MUCH) IS DIFFERENT</a:t>
            </a:r>
          </a:p>
          <a:p>
            <a:r>
              <a:rPr lang="en-IT" b="1" dirty="0"/>
              <a:t>ALTHOUGHT THEY BOTH COULD STORE DATA (Object Oriented DBMS)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536835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F16F1B-7E7B-7A36-96D2-35D74B7FD188}"/>
              </a:ext>
            </a:extLst>
          </p:cNvPr>
          <p:cNvSpPr txBox="1"/>
          <p:nvPr/>
        </p:nvSpPr>
        <p:spPr>
          <a:xfrm>
            <a:off x="1136468" y="1645919"/>
            <a:ext cx="41862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200" b="1" dirty="0"/>
              <a:t>OBJECT RELATIONAL MAPPING </a:t>
            </a:r>
            <a:endParaRPr lang="en-IT" sz="2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BAD95-3F37-EF51-2B8A-6BC00C242165}"/>
              </a:ext>
            </a:extLst>
          </p:cNvPr>
          <p:cNvSpPr txBox="1"/>
          <p:nvPr/>
        </p:nvSpPr>
        <p:spPr>
          <a:xfrm>
            <a:off x="1739483" y="2686273"/>
            <a:ext cx="871303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i="0" dirty="0">
                <a:solidFill>
                  <a:srgbClr val="0C0D0E"/>
                </a:solidFill>
                <a:effectLst/>
                <a:latin typeface="-apple-system"/>
              </a:rPr>
              <a:t>Advantages: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C0D0E"/>
                </a:solidFill>
                <a:effectLst/>
                <a:latin typeface="inherit"/>
              </a:rPr>
              <a:t> </a:t>
            </a:r>
            <a:r>
              <a:rPr lang="en-GB" b="1" i="0" dirty="0">
                <a:solidFill>
                  <a:srgbClr val="0C0D0E"/>
                </a:solidFill>
                <a:effectLst/>
                <a:latin typeface="inherit"/>
              </a:rPr>
              <a:t>Speeds-up Development </a:t>
            </a:r>
            <a:r>
              <a:rPr lang="en-GB" b="0" i="0" dirty="0">
                <a:solidFill>
                  <a:srgbClr val="0C0D0E"/>
                </a:solidFill>
                <a:effectLst/>
                <a:latin typeface="inherit"/>
              </a:rPr>
              <a:t>- eliminates the need for repetitive SQL code. &lt;- </a:t>
            </a:r>
            <a:r>
              <a:rPr lang="en-GB" b="0" i="1" dirty="0">
                <a:solidFill>
                  <a:srgbClr val="0C0D0E"/>
                </a:solidFill>
                <a:effectLst/>
                <a:latin typeface="inherit"/>
              </a:rPr>
              <a:t>Yes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C0D0E"/>
                </a:solidFill>
                <a:effectLst/>
                <a:latin typeface="inherit"/>
              </a:rPr>
              <a:t> Reduces Development Time. &lt;- </a:t>
            </a:r>
            <a:r>
              <a:rPr lang="en-GB" i="1" dirty="0">
                <a:solidFill>
                  <a:srgbClr val="0C0D0E"/>
                </a:solidFill>
                <a:latin typeface="inherit"/>
              </a:rPr>
              <a:t>In medium to large projects</a:t>
            </a:r>
            <a:endParaRPr lang="en-GB" b="0" i="0" dirty="0">
              <a:solidFill>
                <a:srgbClr val="0C0D0E"/>
              </a:solidFill>
              <a:effectLst/>
              <a:latin typeface="inheri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C0D0E"/>
                </a:solidFill>
                <a:effectLst/>
                <a:latin typeface="inherit"/>
              </a:rPr>
              <a:t> Reduces Development Costs. </a:t>
            </a:r>
            <a:r>
              <a:rPr lang="en-GB" dirty="0">
                <a:solidFill>
                  <a:srgbClr val="0C0D0E"/>
                </a:solidFill>
                <a:latin typeface="inherit"/>
              </a:rPr>
              <a:t>&lt;- </a:t>
            </a:r>
            <a:r>
              <a:rPr lang="en-GB" i="1" dirty="0">
                <a:solidFill>
                  <a:srgbClr val="0C0D0E"/>
                </a:solidFill>
                <a:latin typeface="inherit"/>
              </a:rPr>
              <a:t>In medium to large project</a:t>
            </a:r>
            <a:endParaRPr lang="en-GB" b="0" i="1" dirty="0">
              <a:solidFill>
                <a:srgbClr val="0C0D0E"/>
              </a:solidFill>
              <a:effectLst/>
              <a:latin typeface="inheri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C0D0E"/>
                </a:solidFill>
                <a:effectLst/>
                <a:latin typeface="inherit"/>
              </a:rPr>
              <a:t> Overcomes vendor specific SQL differences - the ORM knows how to write vendor specific SQL so you don't have to.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i="1" dirty="0">
                <a:solidFill>
                  <a:srgbClr val="0C0D0E"/>
                </a:solidFill>
                <a:latin typeface="inherit"/>
              </a:rPr>
              <a:t> Could be (albeit it depends on the implementation) more security compliant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endParaRPr lang="en-GB" i="1" dirty="0">
              <a:solidFill>
                <a:srgbClr val="0C0D0E"/>
              </a:solidFill>
              <a:latin typeface="inheri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1" dirty="0">
                <a:solidFill>
                  <a:srgbClr val="0C0D0E"/>
                </a:solidFill>
                <a:latin typeface="inherit"/>
              </a:rPr>
              <a:t> AND, OF COURSE, WITH ORM WE EXPLOIT THE BEST ASPECTS OF BOTH WORLDS</a:t>
            </a:r>
          </a:p>
          <a:p>
            <a:pPr algn="l" fontAlgn="base"/>
            <a:endParaRPr lang="en-GB" b="0" i="1" dirty="0">
              <a:solidFill>
                <a:srgbClr val="0C0D0E"/>
              </a:solidFill>
              <a:effectLst/>
              <a:latin typeface="inherit"/>
            </a:endParaRPr>
          </a:p>
          <a:p>
            <a:pPr algn="l" fontAlgn="base"/>
            <a:endParaRPr lang="en-GB" dirty="0">
              <a:solidFill>
                <a:srgbClr val="0C0D0E"/>
              </a:solidFill>
              <a:latin typeface="inherit"/>
            </a:endParaRPr>
          </a:p>
          <a:p>
            <a:pPr algn="l" fontAlgn="base"/>
            <a:endParaRPr lang="en-GB" dirty="0">
              <a:solidFill>
                <a:srgbClr val="0C0D0E"/>
              </a:solidFill>
              <a:latin typeface="inherit"/>
            </a:endParaRPr>
          </a:p>
          <a:p>
            <a:pPr algn="l" fontAlgn="base"/>
            <a:r>
              <a:rPr lang="en-GB" dirty="0">
                <a:solidFill>
                  <a:srgbClr val="0C0D0E"/>
                </a:solidFill>
                <a:latin typeface="inherit"/>
              </a:rPr>
              <a:t>from: </a:t>
            </a:r>
            <a:r>
              <a:rPr lang="en-GB" i="1" dirty="0">
                <a:solidFill>
                  <a:srgbClr val="0C0D0E"/>
                </a:solidFill>
                <a:latin typeface="inherit"/>
              </a:rPr>
              <a:t>https://</a:t>
            </a:r>
            <a:r>
              <a:rPr lang="en-GB" i="1" dirty="0" err="1">
                <a:solidFill>
                  <a:srgbClr val="0C0D0E"/>
                </a:solidFill>
                <a:latin typeface="inherit"/>
              </a:rPr>
              <a:t>stackoverflow.com</a:t>
            </a:r>
            <a:r>
              <a:rPr lang="en-GB" i="1" dirty="0">
                <a:solidFill>
                  <a:srgbClr val="0C0D0E"/>
                </a:solidFill>
                <a:latin typeface="inherit"/>
              </a:rPr>
              <a:t>/questions/4667906/the-advantages-and-disadvantages-of-using-</a:t>
            </a:r>
            <a:r>
              <a:rPr lang="en-GB" i="1" dirty="0" err="1">
                <a:solidFill>
                  <a:srgbClr val="0C0D0E"/>
                </a:solidFill>
                <a:latin typeface="inherit"/>
              </a:rPr>
              <a:t>orm</a:t>
            </a:r>
            <a:endParaRPr lang="en-GB" b="0" i="1" dirty="0">
              <a:solidFill>
                <a:srgbClr val="0C0D0E"/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3767282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F16F1B-7E7B-7A36-96D2-35D74B7FD188}"/>
              </a:ext>
            </a:extLst>
          </p:cNvPr>
          <p:cNvSpPr txBox="1"/>
          <p:nvPr/>
        </p:nvSpPr>
        <p:spPr>
          <a:xfrm>
            <a:off x="1136468" y="1645919"/>
            <a:ext cx="41862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200" b="1" dirty="0"/>
              <a:t>OBJECT RELATIONAL MAPPING </a:t>
            </a:r>
            <a:endParaRPr lang="en-IT" sz="2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BAD95-3F37-EF51-2B8A-6BC00C242165}"/>
              </a:ext>
            </a:extLst>
          </p:cNvPr>
          <p:cNvSpPr txBox="1"/>
          <p:nvPr/>
        </p:nvSpPr>
        <p:spPr>
          <a:xfrm>
            <a:off x="1739483" y="2690609"/>
            <a:ext cx="871303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i="0" dirty="0">
                <a:solidFill>
                  <a:srgbClr val="0C0D0E"/>
                </a:solidFill>
                <a:effectLst/>
                <a:latin typeface="-apple-system"/>
              </a:rPr>
              <a:t>Disadvantages: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C0D0E"/>
                </a:solidFill>
                <a:effectLst/>
                <a:latin typeface="inherit"/>
              </a:rPr>
              <a:t> </a:t>
            </a:r>
            <a:r>
              <a:rPr lang="en-GB" b="1" i="0" u="sng" dirty="0">
                <a:solidFill>
                  <a:srgbClr val="0C0D0E"/>
                </a:solidFill>
                <a:effectLst/>
                <a:latin typeface="inherit"/>
              </a:rPr>
              <a:t>Loss in developer productivity whilst they learn to program with ORM</a:t>
            </a:r>
            <a:r>
              <a:rPr lang="en-GB" b="0" i="0" dirty="0">
                <a:solidFill>
                  <a:srgbClr val="0C0D0E"/>
                </a:solidFill>
                <a:effectLst/>
                <a:latin typeface="inherit"/>
              </a:rPr>
              <a:t>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C0D0E"/>
                </a:solidFill>
                <a:effectLst/>
                <a:latin typeface="inherit"/>
              </a:rPr>
              <a:t> Developers lose understanding of what the code is actually doing - the developer is more in control using SQL. &lt;- </a:t>
            </a:r>
            <a:r>
              <a:rPr lang="en-GB" b="0" i="1" dirty="0">
                <a:solidFill>
                  <a:srgbClr val="0C0D0E"/>
                </a:solidFill>
                <a:effectLst/>
                <a:latin typeface="inherit"/>
              </a:rPr>
              <a:t>Not always true, but is a pitfall</a:t>
            </a:r>
            <a:endParaRPr lang="en-GB" b="0" i="0" dirty="0">
              <a:solidFill>
                <a:srgbClr val="0C0D0E"/>
              </a:solidFill>
              <a:effectLst/>
              <a:latin typeface="inheri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C0D0E"/>
                </a:solidFill>
                <a:effectLst/>
                <a:latin typeface="inherit"/>
              </a:rPr>
              <a:t> </a:t>
            </a:r>
            <a:r>
              <a:rPr lang="en-GB" b="1" i="0" u="sng" dirty="0">
                <a:solidFill>
                  <a:srgbClr val="0C0D0E"/>
                </a:solidFill>
                <a:effectLst/>
                <a:latin typeface="inherit"/>
              </a:rPr>
              <a:t>ORM has a tendency to be slow</a:t>
            </a:r>
            <a:r>
              <a:rPr lang="en-GB" b="0" i="0" dirty="0">
                <a:solidFill>
                  <a:srgbClr val="0C0D0E"/>
                </a:solidFill>
                <a:effectLst/>
                <a:latin typeface="inherit"/>
              </a:rPr>
              <a:t>. &lt;- it is still a layer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C0D0E"/>
                </a:solidFill>
                <a:effectLst/>
                <a:latin typeface="inherit"/>
              </a:rPr>
              <a:t> ORM fail to compete against SQL queries for complex queries. &lt;</a:t>
            </a:r>
            <a:r>
              <a:rPr lang="en-GB" dirty="0">
                <a:solidFill>
                  <a:srgbClr val="0C0D0E"/>
                </a:solidFill>
                <a:latin typeface="inherit"/>
              </a:rPr>
              <a:t>– </a:t>
            </a:r>
            <a:r>
              <a:rPr lang="en-GB" i="1" dirty="0">
                <a:solidFill>
                  <a:srgbClr val="0C0D0E"/>
                </a:solidFill>
                <a:latin typeface="inherit"/>
              </a:rPr>
              <a:t>Not always true</a:t>
            </a:r>
            <a:endParaRPr lang="en-GB" b="0" i="1" dirty="0">
              <a:solidFill>
                <a:srgbClr val="0C0D0E"/>
              </a:solidFill>
              <a:effectLst/>
              <a:latin typeface="inherit"/>
            </a:endParaRPr>
          </a:p>
          <a:p>
            <a:pPr algn="l" fontAlgn="base"/>
            <a:endParaRPr lang="en-GB" dirty="0">
              <a:solidFill>
                <a:srgbClr val="0C0D0E"/>
              </a:solidFill>
              <a:latin typeface="inherit"/>
            </a:endParaRPr>
          </a:p>
          <a:p>
            <a:pPr algn="l" fontAlgn="base"/>
            <a:endParaRPr lang="en-GB" dirty="0">
              <a:solidFill>
                <a:srgbClr val="0C0D0E"/>
              </a:solidFill>
              <a:latin typeface="inherit"/>
            </a:endParaRPr>
          </a:p>
          <a:p>
            <a:pPr algn="l" fontAlgn="base"/>
            <a:r>
              <a:rPr lang="en-GB" dirty="0">
                <a:solidFill>
                  <a:srgbClr val="0C0D0E"/>
                </a:solidFill>
                <a:latin typeface="inherit"/>
              </a:rPr>
              <a:t>from: </a:t>
            </a:r>
            <a:r>
              <a:rPr lang="en-GB" i="1" dirty="0">
                <a:solidFill>
                  <a:srgbClr val="0C0D0E"/>
                </a:solidFill>
                <a:latin typeface="inherit"/>
              </a:rPr>
              <a:t>https://</a:t>
            </a:r>
            <a:r>
              <a:rPr lang="en-GB" i="1" dirty="0" err="1">
                <a:solidFill>
                  <a:srgbClr val="0C0D0E"/>
                </a:solidFill>
                <a:latin typeface="inherit"/>
              </a:rPr>
              <a:t>stackoverflow.com</a:t>
            </a:r>
            <a:r>
              <a:rPr lang="en-GB" i="1" dirty="0">
                <a:solidFill>
                  <a:srgbClr val="0C0D0E"/>
                </a:solidFill>
                <a:latin typeface="inherit"/>
              </a:rPr>
              <a:t>/questions/4667906/the-advantages-and-disadvantages-of-using-</a:t>
            </a:r>
            <a:r>
              <a:rPr lang="en-GB" i="1" dirty="0" err="1">
                <a:solidFill>
                  <a:srgbClr val="0C0D0E"/>
                </a:solidFill>
                <a:latin typeface="inherit"/>
              </a:rPr>
              <a:t>orm</a:t>
            </a:r>
            <a:endParaRPr lang="en-GB" b="0" i="1" dirty="0">
              <a:solidFill>
                <a:srgbClr val="0C0D0E"/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3048041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F16F1B-7E7B-7A36-96D2-35D74B7FD188}"/>
              </a:ext>
            </a:extLst>
          </p:cNvPr>
          <p:cNvSpPr txBox="1"/>
          <p:nvPr/>
        </p:nvSpPr>
        <p:spPr>
          <a:xfrm>
            <a:off x="1136468" y="1645919"/>
            <a:ext cx="19847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200" b="1" dirty="0"/>
              <a:t>SQLALCHEMY</a:t>
            </a:r>
            <a:endParaRPr lang="en-IT" sz="2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2F64A3-D9D9-66E7-250F-605144CCDFEA}"/>
              </a:ext>
            </a:extLst>
          </p:cNvPr>
          <p:cNvSpPr txBox="1"/>
          <p:nvPr/>
        </p:nvSpPr>
        <p:spPr>
          <a:xfrm>
            <a:off x="1660162" y="2203048"/>
            <a:ext cx="938759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SQLAlchemy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offers tools for database schema generation, querying, and object-relational mapping. </a:t>
            </a:r>
            <a:endParaRPr lang="en-GB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algn="l"/>
            <a:endParaRPr lang="en-GB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Key features include:</a:t>
            </a:r>
          </a:p>
          <a:p>
            <a:pPr algn="l"/>
            <a:endParaRPr lang="en-GB" b="1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A comprehensive embedded </a:t>
            </a:r>
            <a:r>
              <a:rPr lang="en-GB" b="1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domain-specific language</a:t>
            </a:r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for SQL in Python called "</a:t>
            </a:r>
            <a:r>
              <a:rPr lang="en-GB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SQLAlchemy</a:t>
            </a:r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Core" that provides means to construct and execute SQL queries.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A powerful ORM that allows the mapping of Python classes to database tables.</a:t>
            </a:r>
          </a:p>
          <a:p>
            <a:pPr algn="l"/>
            <a:endParaRPr lang="en-GB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Support for database schema migrations.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Compatibility with multiple database backends.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Tools for database connection pooling and transaction management.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algn="l"/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https://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en.wikipedia.org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/wiki/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SQLAlchemy</a:t>
            </a:r>
            <a:endParaRPr lang="en-GB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2530" name="Picture 2" descr="What is SQLAlchemy?. An intro to ORM and SQLAlchemy. | by Priya Srivastava  | Medium">
            <a:extLst>
              <a:ext uri="{FF2B5EF4-FFF2-40B4-BE49-F238E27FC236}">
                <a16:creationId xmlns:a16="http://schemas.microsoft.com/office/drawing/2014/main" id="{DEE96EC3-9E06-E08C-DC0A-4AE89128F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7680" y="5800694"/>
            <a:ext cx="2643266" cy="1057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800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D402C-1486-1C74-77CC-E81B35DB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4AB9E9-6917-7A2B-EC37-E727935B26D9}"/>
              </a:ext>
            </a:extLst>
          </p:cNvPr>
          <p:cNvSpPr txBox="1"/>
          <p:nvPr/>
        </p:nvSpPr>
        <p:spPr>
          <a:xfrm>
            <a:off x="1136468" y="1645919"/>
            <a:ext cx="19404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200" b="1" dirty="0"/>
              <a:t>DJANGO ORM</a:t>
            </a:r>
            <a:endParaRPr lang="en-IT" sz="2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F1DDD-AB34-8DD4-DC08-3B9D0A651F45}"/>
              </a:ext>
            </a:extLst>
          </p:cNvPr>
          <p:cNvSpPr txBox="1"/>
          <p:nvPr/>
        </p:nvSpPr>
        <p:spPr>
          <a:xfrm>
            <a:off x="768902" y="2509737"/>
            <a:ext cx="48819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django.db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models</a:t>
            </a:r>
          </a:p>
          <a:p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ImageMetadata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models.Model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lvl="1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path =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models.CharField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max_length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=256)</a:t>
            </a:r>
          </a:p>
          <a:p>
            <a:pPr lvl="1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height =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models.PositiveIntegerField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width =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models.PositiveIntegerField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def __str__(self):</a:t>
            </a:r>
          </a:p>
          <a:p>
            <a:pPr lvl="1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self.path</a:t>
            </a: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9E22E1-8231-AD02-75D0-4535864F6D31}"/>
              </a:ext>
            </a:extLst>
          </p:cNvPr>
          <p:cNvSpPr txBox="1"/>
          <p:nvPr/>
        </p:nvSpPr>
        <p:spPr>
          <a:xfrm>
            <a:off x="5574536" y="2960566"/>
            <a:ext cx="584856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InstrumentMetadata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models.Model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lvl="1"/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device_id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models.CharField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primary_key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  <a:p>
            <a:pPr lvl="1"/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device_name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models.CharField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max_length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=42)</a:t>
            </a:r>
          </a:p>
          <a:p>
            <a:b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def __str__(self):</a:t>
            </a:r>
          </a:p>
          <a:p>
            <a:pPr lvl="1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self.device_name</a:t>
            </a: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81F2E1-71AC-D3B6-977D-90B4AFB0487E}"/>
              </a:ext>
            </a:extLst>
          </p:cNvPr>
          <p:cNvSpPr txBox="1"/>
          <p:nvPr/>
        </p:nvSpPr>
        <p:spPr>
          <a:xfrm>
            <a:off x="768903" y="4930336"/>
            <a:ext cx="699571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1b) Make &amp; apply migrations (in the terminal)</a:t>
            </a:r>
          </a:p>
          <a:p>
            <a:pPr>
              <a:buNone/>
            </a:pPr>
            <a:r>
              <a:rPr lang="en-GB" sz="1400" dirty="0">
                <a:latin typeface="Courier New" panose="02070309020205020404" pitchFamily="49" charset="0"/>
              </a:rPr>
              <a:t>&gt; python </a:t>
            </a:r>
            <a:r>
              <a:rPr lang="en-GB" sz="1400" dirty="0" err="1">
                <a:latin typeface="Courier New" panose="02070309020205020404" pitchFamily="49" charset="0"/>
              </a:rPr>
              <a:t>manage.py</a:t>
            </a:r>
            <a:r>
              <a:rPr lang="en-GB" sz="1400" dirty="0">
                <a:latin typeface="Courier New" panose="02070309020205020404" pitchFamily="49" charset="0"/>
              </a:rPr>
              <a:t> </a:t>
            </a:r>
            <a:r>
              <a:rPr lang="en-GB" sz="1400" dirty="0" err="1">
                <a:latin typeface="Courier New" panose="02070309020205020404" pitchFamily="49" charset="0"/>
              </a:rPr>
              <a:t>makemigrations</a:t>
            </a:r>
            <a:endParaRPr lang="en-GB" sz="14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GB" sz="1400" dirty="0">
                <a:latin typeface="Courier New" panose="02070309020205020404" pitchFamily="49" charset="0"/>
              </a:rPr>
              <a:t>&gt; python </a:t>
            </a:r>
            <a:r>
              <a:rPr lang="en-GB" sz="1400" dirty="0" err="1">
                <a:latin typeface="Courier New" panose="02070309020205020404" pitchFamily="49" charset="0"/>
              </a:rPr>
              <a:t>manage.py</a:t>
            </a:r>
            <a:r>
              <a:rPr lang="en-GB" sz="1400" dirty="0">
                <a:latin typeface="Courier New" panose="02070309020205020404" pitchFamily="49" charset="0"/>
              </a:rPr>
              <a:t> migrate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2BF6B0-F4E6-37D2-1499-F15CAE3367E0}"/>
              </a:ext>
            </a:extLst>
          </p:cNvPr>
          <p:cNvSpPr txBox="1"/>
          <p:nvPr/>
        </p:nvSpPr>
        <p:spPr>
          <a:xfrm>
            <a:off x="768903" y="2108605"/>
            <a:ext cx="6995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1a) Create the models in </a:t>
            </a:r>
            <a:r>
              <a:rPr lang="en-GB" b="1" dirty="0" err="1"/>
              <a:t>app_name</a:t>
            </a:r>
            <a:r>
              <a:rPr lang="en-GB" b="1" dirty="0"/>
              <a:t>/</a:t>
            </a:r>
            <a:r>
              <a:rPr lang="en-GB" b="1" dirty="0" err="1"/>
              <a:t>models.py</a:t>
            </a:r>
            <a:endParaRPr lang="en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832FA7-A3D4-EAA7-C86F-838B3D76A765}"/>
              </a:ext>
            </a:extLst>
          </p:cNvPr>
          <p:cNvSpPr txBox="1"/>
          <p:nvPr/>
        </p:nvSpPr>
        <p:spPr>
          <a:xfrm>
            <a:off x="4394592" y="5761333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dirty="0">
                <a:latin typeface="Courier New" panose="02070309020205020404" pitchFamily="49" charset="0"/>
              </a:rPr>
              <a:t>YOU ARE CREATING THE DATABASE SCHEMA!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638B544-0550-1A0B-FDA7-3AFB26D92314}"/>
              </a:ext>
            </a:extLst>
          </p:cNvPr>
          <p:cNvCxnSpPr>
            <a:stCxn id="14" idx="2"/>
            <a:endCxn id="23" idx="1"/>
          </p:cNvCxnSpPr>
          <p:nvPr/>
        </p:nvCxnSpPr>
        <p:spPr>
          <a:xfrm>
            <a:off x="4266758" y="5699777"/>
            <a:ext cx="127834" cy="2462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805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86BA-62F4-BC05-99DE-835BB19EF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26C75-729A-7C78-E29A-AEA82280D4A2}"/>
              </a:ext>
            </a:extLst>
          </p:cNvPr>
          <p:cNvSpPr txBox="1"/>
          <p:nvPr/>
        </p:nvSpPr>
        <p:spPr>
          <a:xfrm>
            <a:off x="1136468" y="1645919"/>
            <a:ext cx="19404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200" b="1" dirty="0"/>
              <a:t>DJANGO ORM</a:t>
            </a:r>
            <a:endParaRPr lang="en-IT" sz="2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742110-307E-A16F-7776-4153ECC84A80}"/>
              </a:ext>
            </a:extLst>
          </p:cNvPr>
          <p:cNvSpPr txBox="1"/>
          <p:nvPr/>
        </p:nvSpPr>
        <p:spPr>
          <a:xfrm>
            <a:off x="768903" y="2509737"/>
            <a:ext cx="39903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python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manage.py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shell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C5D210-C4B5-1C20-C127-02FF22D2677E}"/>
              </a:ext>
            </a:extLst>
          </p:cNvPr>
          <p:cNvSpPr txBox="1"/>
          <p:nvPr/>
        </p:nvSpPr>
        <p:spPr>
          <a:xfrm>
            <a:off x="657340" y="3415075"/>
            <a:ext cx="1142816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 from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django_orm_tutorial.models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ImageMetadata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InstrumentMetadata</a:t>
            </a: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 image_metadata1 =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ImageMetadata.objects.create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(path="/data/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imgs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a.tif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height=1024, width=2048)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 image_metadata2 =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ImageMetadata.objects.create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(path="/data/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imgs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b.tif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height=800, width=600)</a:t>
            </a:r>
          </a:p>
          <a:p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 instrument_metadata1 =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InstrumentMetadata.objects.create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device_id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=”A0018",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device_name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=”Novaseq6000")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 instrument_metadata2 =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InstrumentMetadata.objects.create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device_id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=”ONT-42", 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device_name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=”Nanopore")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5731E0-2CD9-1703-0818-EAD8B529005D}"/>
              </a:ext>
            </a:extLst>
          </p:cNvPr>
          <p:cNvSpPr txBox="1"/>
          <p:nvPr/>
        </p:nvSpPr>
        <p:spPr>
          <a:xfrm>
            <a:off x="768903" y="2108605"/>
            <a:ext cx="6995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2) Let’s use the Django Shell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D753B9-3258-A085-B5E0-905F24C2FBF0}"/>
              </a:ext>
            </a:extLst>
          </p:cNvPr>
          <p:cNvSpPr txBox="1"/>
          <p:nvPr/>
        </p:nvSpPr>
        <p:spPr>
          <a:xfrm>
            <a:off x="3796451" y="6147442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dirty="0">
                <a:latin typeface="Courier New" panose="02070309020205020404" pitchFamily="49" charset="0"/>
              </a:rPr>
              <a:t>YOU ARE PUTTING DATA INSIDE THE DATABASE!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B438CFB-883A-5004-C828-2866E2B798B2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2864386" y="6332108"/>
            <a:ext cx="9320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DC1ACF6-06DC-C7ED-93F5-69E41B5B7142}"/>
              </a:ext>
            </a:extLst>
          </p:cNvPr>
          <p:cNvSpPr txBox="1"/>
          <p:nvPr/>
        </p:nvSpPr>
        <p:spPr>
          <a:xfrm>
            <a:off x="768903" y="2921803"/>
            <a:ext cx="6995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3) Import the models and insert data into the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B2B51F-9938-0421-8667-5A185C557E59}"/>
              </a:ext>
            </a:extLst>
          </p:cNvPr>
          <p:cNvSpPr txBox="1"/>
          <p:nvPr/>
        </p:nvSpPr>
        <p:spPr>
          <a:xfrm>
            <a:off x="5083589" y="2228708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dirty="0">
                <a:latin typeface="Courier New" panose="02070309020205020404" pitchFamily="49" charset="0"/>
              </a:rPr>
              <a:t>YOU </a:t>
            </a:r>
            <a:r>
              <a:rPr lang="en-GB" dirty="0">
                <a:latin typeface="Courier New" panose="02070309020205020404" pitchFamily="49" charset="0"/>
              </a:rPr>
              <a:t>”LINKING” THE OBJECTS TO THE DATABASE</a:t>
            </a:r>
            <a:endParaRPr lang="en-GB" sz="1800" dirty="0">
              <a:latin typeface="Courier New" panose="02070309020205020404" pitchFamily="49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FD105E1-6928-D044-B255-12EE78C8D7AD}"/>
              </a:ext>
            </a:extLst>
          </p:cNvPr>
          <p:cNvCxnSpPr>
            <a:cxnSpLocks/>
            <a:stCxn id="3" idx="3"/>
            <a:endCxn id="5" idx="2"/>
          </p:cNvCxnSpPr>
          <p:nvPr/>
        </p:nvCxnSpPr>
        <p:spPr>
          <a:xfrm flipV="1">
            <a:off x="7764613" y="2598040"/>
            <a:ext cx="367894" cy="508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424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0648F-08B5-1963-ADC7-1240705D5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EAFCE9-6077-D53C-EF17-023A10886F95}"/>
              </a:ext>
            </a:extLst>
          </p:cNvPr>
          <p:cNvSpPr txBox="1"/>
          <p:nvPr/>
        </p:nvSpPr>
        <p:spPr>
          <a:xfrm>
            <a:off x="1136468" y="1645919"/>
            <a:ext cx="19404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200" b="1" dirty="0"/>
              <a:t>DJANGO ORM</a:t>
            </a:r>
            <a:endParaRPr lang="en-IT" sz="2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BF3CCD-F4CF-EBC6-3129-CE54A725CE66}"/>
              </a:ext>
            </a:extLst>
          </p:cNvPr>
          <p:cNvSpPr txBox="1"/>
          <p:nvPr/>
        </p:nvSpPr>
        <p:spPr>
          <a:xfrm>
            <a:off x="768903" y="2561040"/>
            <a:ext cx="106541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ImageMetadata.objects.all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InstrumentMetadata.objects.all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 for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image_metadata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ImageMetadata.objects.all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(): # e.g., get the paths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image_metadata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D2EA9-47A8-D9BA-F898-EF5CD32030D8}"/>
              </a:ext>
            </a:extLst>
          </p:cNvPr>
          <p:cNvSpPr txBox="1"/>
          <p:nvPr/>
        </p:nvSpPr>
        <p:spPr>
          <a:xfrm>
            <a:off x="768903" y="2164743"/>
            <a:ext cx="6995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4a) Query the models – obtain all the entries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C6F903-4264-1CE5-BAFC-BB381E475B65}"/>
              </a:ext>
            </a:extLst>
          </p:cNvPr>
          <p:cNvSpPr txBox="1"/>
          <p:nvPr/>
        </p:nvSpPr>
        <p:spPr>
          <a:xfrm>
            <a:off x="768903" y="3903908"/>
            <a:ext cx="74937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400" i="1" dirty="0">
                <a:latin typeface="Aptos" panose="020B0004020202020204" pitchFamily="34" charset="0"/>
                <a:cs typeface="Courier New" panose="02070309020205020404" pitchFamily="49" charset="0"/>
              </a:rPr>
              <a:t>Images wider than 1000 px</a:t>
            </a:r>
          </a:p>
          <a:p>
            <a:r>
              <a:rPr lang="en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 ImageMetadata.objects.filter(width__gt=1000)</a:t>
            </a:r>
          </a:p>
          <a:p>
            <a:r>
              <a:rPr lang="en-IT" sz="1400" i="1" dirty="0">
                <a:latin typeface="Aptos" panose="020B0004020202020204" pitchFamily="34" charset="0"/>
                <a:cs typeface="Courier New" panose="02070309020205020404" pitchFamily="49" charset="0"/>
              </a:rPr>
              <a:t>Instruments whose name contains "micro" (case-insensitive)</a:t>
            </a:r>
          </a:p>
          <a:p>
            <a:r>
              <a:rPr lang="en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 InstrumentMetadata.objects.filter(device_name__icontains="micro")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45FE00-6064-2EFA-B62D-232A8DCBE6B4}"/>
              </a:ext>
            </a:extLst>
          </p:cNvPr>
          <p:cNvSpPr txBox="1"/>
          <p:nvPr/>
        </p:nvSpPr>
        <p:spPr>
          <a:xfrm>
            <a:off x="780125" y="5383441"/>
            <a:ext cx="103028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ImageMetadata.objects.get(path="/data/imgs/a.tif")</a:t>
            </a:r>
          </a:p>
          <a:p>
            <a:r>
              <a:rPr lang="en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InstrumentMetadata.objects.get(pk="A0018")     # primary key shortcut, pk is unique by definition!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FFE3C7-11F3-3D1F-5481-4B2E1A08A2A5}"/>
              </a:ext>
            </a:extLst>
          </p:cNvPr>
          <p:cNvSpPr txBox="1"/>
          <p:nvPr/>
        </p:nvSpPr>
        <p:spPr>
          <a:xfrm>
            <a:off x="780125" y="3542112"/>
            <a:ext cx="6995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4b) Query the models - filter a subset of the queries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384E16-2F00-E63D-0A81-8E2CEEFC36D9}"/>
              </a:ext>
            </a:extLst>
          </p:cNvPr>
          <p:cNvSpPr txBox="1"/>
          <p:nvPr/>
        </p:nvSpPr>
        <p:spPr>
          <a:xfrm>
            <a:off x="780125" y="4969906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4b) Query the models – get a single </a:t>
            </a:r>
            <a:r>
              <a:rPr lang="en-GB" b="1" u="sng" dirty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87667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4DC8D-0686-333D-BBB9-C5636A5FE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8710D-7C4B-9CFF-300C-238E53614B6E}"/>
              </a:ext>
            </a:extLst>
          </p:cNvPr>
          <p:cNvSpPr txBox="1"/>
          <p:nvPr/>
        </p:nvSpPr>
        <p:spPr>
          <a:xfrm>
            <a:off x="1136468" y="1645919"/>
            <a:ext cx="19404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200" b="1" dirty="0"/>
              <a:t>DJANGO ORM</a:t>
            </a:r>
            <a:endParaRPr lang="en-IT" sz="2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EFB186-3413-6461-1412-5DEBBC22ED1E}"/>
              </a:ext>
            </a:extLst>
          </p:cNvPr>
          <p:cNvSpPr txBox="1"/>
          <p:nvPr/>
        </p:nvSpPr>
        <p:spPr>
          <a:xfrm>
            <a:off x="768903" y="2561040"/>
            <a:ext cx="106541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instrument_metadata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InstrumentMetadata.objects.get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(pk=”ONT-42")</a:t>
            </a:r>
          </a:p>
          <a:p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instrument.device_name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”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iScan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instrument.save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4002ED-B8E1-1887-1E5C-3820235AC4E1}"/>
              </a:ext>
            </a:extLst>
          </p:cNvPr>
          <p:cNvSpPr txBox="1"/>
          <p:nvPr/>
        </p:nvSpPr>
        <p:spPr>
          <a:xfrm>
            <a:off x="768903" y="2164743"/>
            <a:ext cx="6995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5) UPDATE THE DATA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2AF82E-DCDF-53FD-BD60-D44AF5F4B7CF}"/>
              </a:ext>
            </a:extLst>
          </p:cNvPr>
          <p:cNvSpPr txBox="1"/>
          <p:nvPr/>
        </p:nvSpPr>
        <p:spPr>
          <a:xfrm>
            <a:off x="768903" y="3927628"/>
            <a:ext cx="79965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instrument_metadata = InstrumentMetadata.objects.get(pk=”ONT-42")</a:t>
            </a:r>
          </a:p>
          <a:p>
            <a:r>
              <a:rPr lang="en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instrument_metadata.delete()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0D385A-30B0-12BD-1034-8206FE40B87A}"/>
              </a:ext>
            </a:extLst>
          </p:cNvPr>
          <p:cNvSpPr txBox="1"/>
          <p:nvPr/>
        </p:nvSpPr>
        <p:spPr>
          <a:xfrm>
            <a:off x="768903" y="3429000"/>
            <a:ext cx="6995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6) DELETE THE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24CECA-A031-0251-AC1E-AC2661495A73}"/>
              </a:ext>
            </a:extLst>
          </p:cNvPr>
          <p:cNvSpPr txBox="1"/>
          <p:nvPr/>
        </p:nvSpPr>
        <p:spPr>
          <a:xfrm>
            <a:off x="768903" y="4580144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7+) A LOT MORE POSSIBILITIES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3AEF43-0A89-0BFC-B060-1913277C2BA7}"/>
              </a:ext>
            </a:extLst>
          </p:cNvPr>
          <p:cNvSpPr txBox="1"/>
          <p:nvPr/>
        </p:nvSpPr>
        <p:spPr>
          <a:xfrm>
            <a:off x="1021814" y="4949476"/>
            <a:ext cx="944421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instrument_metadata, created: bool = InstrumentMetadata.objects.get_or_create(..)</a:t>
            </a:r>
          </a:p>
          <a:p>
            <a:r>
              <a:rPr lang="en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instrument_metadata, created: bool = InstrumentMetadata.objects.update_or_create(..)</a:t>
            </a:r>
          </a:p>
          <a:p>
            <a:r>
              <a:rPr lang="en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number: int = InstrumentMetadata.objects.count()</a:t>
            </a:r>
          </a:p>
          <a:p>
            <a:r>
              <a:rPr lang="en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exist: bool = InstrumentMetadata.objects.</a:t>
            </a:r>
            <a:r>
              <a:rPr lang="en-GB" sz="1400" dirty="0"/>
              <a:t> 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filter(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device_id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=”ABC-1").</a:t>
            </a:r>
            <a:r>
              <a:rPr lang="en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exists()</a:t>
            </a:r>
          </a:p>
          <a:p>
            <a:r>
              <a:rPr lang="en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and bulk create, bulk update etc… </a:t>
            </a:r>
          </a:p>
          <a:p>
            <a:endParaRPr lang="en-IT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102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7B38C-FFB6-DE57-F477-360F2DB95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302D64-9D61-64BF-16CB-D9CA649162ED}"/>
              </a:ext>
            </a:extLst>
          </p:cNvPr>
          <p:cNvSpPr txBox="1"/>
          <p:nvPr/>
        </p:nvSpPr>
        <p:spPr>
          <a:xfrm>
            <a:off x="1136468" y="1645919"/>
            <a:ext cx="29971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200" b="1" dirty="0"/>
              <a:t>HTML and TEMPLATES</a:t>
            </a:r>
            <a:endParaRPr lang="en-IT" sz="2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5F49C-072D-39C7-F012-DA3824D05DC9}"/>
              </a:ext>
            </a:extLst>
          </p:cNvPr>
          <p:cNvSpPr txBox="1"/>
          <p:nvPr/>
        </p:nvSpPr>
        <p:spPr>
          <a:xfrm>
            <a:off x="865990" y="2228671"/>
            <a:ext cx="60995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GB" b="1" dirty="0"/>
              <a:t>HTML (</a:t>
            </a:r>
            <a:r>
              <a:rPr lang="en-GB" b="1" dirty="0" err="1"/>
              <a:t>HyperText</a:t>
            </a:r>
            <a:r>
              <a:rPr lang="en-GB" b="1" dirty="0"/>
              <a:t> Markup Language)</a:t>
            </a:r>
            <a:r>
              <a:rPr lang="en-GB" dirty="0"/>
              <a:t> defines the </a:t>
            </a:r>
            <a:r>
              <a:rPr lang="en-GB" b="1" dirty="0"/>
              <a:t>structure</a:t>
            </a:r>
            <a:r>
              <a:rPr lang="en-GB" dirty="0"/>
              <a:t> of a web page.</a:t>
            </a:r>
          </a:p>
          <a:p>
            <a:pPr marL="285750" indent="-285750">
              <a:buFontTx/>
              <a:buChar char="-"/>
            </a:pPr>
            <a:r>
              <a:rPr lang="en-GB" b="1" dirty="0"/>
              <a:t>Static</a:t>
            </a:r>
            <a:r>
              <a:rPr lang="en-GB" dirty="0"/>
              <a:t>: the same content is shown to every user.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049B2-7691-FA22-B515-38FE2B84F1DF}"/>
              </a:ext>
            </a:extLst>
          </p:cNvPr>
          <p:cNvSpPr txBox="1"/>
          <p:nvPr/>
        </p:nvSpPr>
        <p:spPr>
          <a:xfrm>
            <a:off x="155985" y="6304002"/>
            <a:ext cx="97410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b="0" i="0" dirty="0">
                <a:solidFill>
                  <a:srgbClr val="2E2E2E"/>
                </a:solidFill>
                <a:effectLst/>
                <a:latin typeface="Aptos" panose="020B0004020202020204" pitchFamily="34" charset="0"/>
              </a:rPr>
              <a:t>Henry W. and Albert A. Berg Collection of English and American Literature, The New York Public Library. "Galley proofs for the novel Germinal, with the author's manuscript corrections" </a:t>
            </a:r>
            <a:r>
              <a:rPr lang="en-GB" sz="1000" b="0" i="1" dirty="0">
                <a:solidFill>
                  <a:srgbClr val="2E2E2E"/>
                </a:solidFill>
                <a:effectLst/>
                <a:latin typeface="Aptos" panose="020B0004020202020204" pitchFamily="34" charset="0"/>
              </a:rPr>
              <a:t>The New York Public Library Digital Collections</a:t>
            </a:r>
            <a:r>
              <a:rPr lang="en-GB" sz="1000" b="0" i="0" dirty="0">
                <a:solidFill>
                  <a:srgbClr val="2E2E2E"/>
                </a:solidFill>
                <a:effectLst/>
                <a:latin typeface="Aptos" panose="020B0004020202020204" pitchFamily="34" charset="0"/>
              </a:rPr>
              <a:t>. 1884 - 1885. https://</a:t>
            </a:r>
            <a:r>
              <a:rPr lang="en-GB" sz="1000" b="0" i="0" dirty="0" err="1">
                <a:solidFill>
                  <a:srgbClr val="2E2E2E"/>
                </a:solidFill>
                <a:effectLst/>
                <a:latin typeface="Aptos" panose="020B0004020202020204" pitchFamily="34" charset="0"/>
              </a:rPr>
              <a:t>digitalcollections.nypl.org</a:t>
            </a:r>
            <a:r>
              <a:rPr lang="en-GB" sz="1000" b="0" i="0" dirty="0">
                <a:solidFill>
                  <a:srgbClr val="2E2E2E"/>
                </a:solidFill>
                <a:effectLst/>
                <a:latin typeface="Aptos" panose="020B0004020202020204" pitchFamily="34" charset="0"/>
              </a:rPr>
              <a:t>/items/0415eae0-fcf1-0138-d2ef-0242ac110003</a:t>
            </a:r>
            <a:endParaRPr lang="en-IT" sz="1000" dirty="0">
              <a:latin typeface="Aptos" panose="020B0004020202020204" pitchFamily="34" charset="0"/>
            </a:endParaRPr>
          </a:p>
        </p:txBody>
      </p:sp>
      <p:pic>
        <p:nvPicPr>
          <p:cNvPr id="14" name="Picture 13" descr="A close-up of a paper&#10;&#10;AI-generated content may be incorrect.">
            <a:extLst>
              <a:ext uri="{FF2B5EF4-FFF2-40B4-BE49-F238E27FC236}">
                <a16:creationId xmlns:a16="http://schemas.microsoft.com/office/drawing/2014/main" id="{0627D5A6-70DE-4358-01D0-8998313BF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364" y="1861362"/>
            <a:ext cx="3484445" cy="20313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0A2256D-1B5B-21A7-065C-F7B6D58CB30A}"/>
              </a:ext>
            </a:extLst>
          </p:cNvPr>
          <p:cNvSpPr txBox="1"/>
          <p:nvPr/>
        </p:nvSpPr>
        <p:spPr>
          <a:xfrm>
            <a:off x="1083778" y="3107665"/>
            <a:ext cx="60995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Django Templates (Dynamic HTML)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Extend plain HTML with </a:t>
            </a:r>
            <a:r>
              <a:rPr lang="en-GB" b="1" dirty="0"/>
              <a:t>template language</a:t>
            </a:r>
            <a:r>
              <a:rPr lang="en-GB" dirty="0"/>
              <a:t> for dynamic content.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</a:t>
            </a:r>
            <a:r>
              <a:rPr lang="en-GB" b="1" dirty="0"/>
              <a:t>variables</a:t>
            </a:r>
            <a:r>
              <a:rPr lang="en-GB" dirty="0"/>
              <a:t>, </a:t>
            </a:r>
            <a:r>
              <a:rPr lang="en-GB" b="1" dirty="0"/>
              <a:t>tags</a:t>
            </a:r>
            <a:r>
              <a:rPr lang="en-GB" dirty="0"/>
              <a:t>, and </a:t>
            </a:r>
            <a:r>
              <a:rPr lang="en-GB" b="1" dirty="0"/>
              <a:t>filters</a:t>
            </a:r>
            <a:r>
              <a:rPr lang="en-GB" dirty="0"/>
              <a:t> inside {{ }} and {% %}.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Rendered by Django’s </a:t>
            </a:r>
            <a:r>
              <a:rPr lang="en-GB" b="1" dirty="0"/>
              <a:t>Template Engine</a:t>
            </a:r>
            <a:r>
              <a:rPr lang="en-GB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C88F25-BEE4-9689-D506-CFE568E3419A}"/>
              </a:ext>
            </a:extLst>
          </p:cNvPr>
          <p:cNvSpPr txBox="1"/>
          <p:nvPr/>
        </p:nvSpPr>
        <p:spPr>
          <a:xfrm>
            <a:off x="7183364" y="4164475"/>
            <a:ext cx="38028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dirty="0"/>
              <a:t>&lt;h1&gt;Hello, {{ user.name }}!&lt;/h1&gt;</a:t>
            </a:r>
          </a:p>
          <a:p>
            <a:r>
              <a:rPr lang="en-IT" dirty="0"/>
              <a:t>&lt;p&gt;Today is {% now "l, d F Y" %}&lt;/p&gt;</a:t>
            </a:r>
          </a:p>
          <a:p>
            <a:r>
              <a:rPr lang="en-IT" dirty="0"/>
              <a:t>&lt;ul&gt;</a:t>
            </a:r>
          </a:p>
          <a:p>
            <a:r>
              <a:rPr lang="en-IT" dirty="0"/>
              <a:t>  {% for item in items %}</a:t>
            </a:r>
          </a:p>
          <a:p>
            <a:r>
              <a:rPr lang="en-IT" dirty="0"/>
              <a:t>    &lt;li&gt;{{ item }}&lt;/li&gt;</a:t>
            </a:r>
          </a:p>
          <a:p>
            <a:r>
              <a:rPr lang="en-IT" dirty="0"/>
              <a:t>  {% endfor %}</a:t>
            </a:r>
          </a:p>
          <a:p>
            <a:r>
              <a:rPr lang="en-IT" dirty="0"/>
              <a:t>&lt;/ul&gt;</a:t>
            </a:r>
          </a:p>
        </p:txBody>
      </p:sp>
      <p:pic>
        <p:nvPicPr>
          <p:cNvPr id="20" name="Picture 1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7694F13-91EC-213F-975B-60A2C29B46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6112"/>
          <a:stretch>
            <a:fillRect/>
          </a:stretch>
        </p:blipFill>
        <p:spPr>
          <a:xfrm>
            <a:off x="443725" y="4584993"/>
            <a:ext cx="6324600" cy="161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39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9EC55-60DA-B1C3-58E8-E4DDF5DA2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20EA00-A992-2037-4C43-025BD3DA1163}"/>
              </a:ext>
            </a:extLst>
          </p:cNvPr>
          <p:cNvSpPr txBox="1"/>
          <p:nvPr/>
        </p:nvSpPr>
        <p:spPr>
          <a:xfrm>
            <a:off x="1136468" y="1645919"/>
            <a:ext cx="41400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200" b="1" dirty="0"/>
              <a:t>DJANGO FULL APP with FORMS</a:t>
            </a:r>
            <a:endParaRPr lang="en-IT" sz="2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9594E6-1E54-61FB-EF01-4030C90BB98C}"/>
              </a:ext>
            </a:extLst>
          </p:cNvPr>
          <p:cNvSpPr txBox="1"/>
          <p:nvPr/>
        </p:nvSpPr>
        <p:spPr>
          <a:xfrm>
            <a:off x="1136468" y="2260193"/>
            <a:ext cx="799651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Let’s use the full capabilities of Django, and remade the first OOP exercise as a WEBAPP.</a:t>
            </a:r>
          </a:p>
          <a:p>
            <a:r>
              <a:rPr lang="en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Create Researchers (Users)</a:t>
            </a:r>
          </a:p>
          <a:p>
            <a:r>
              <a:rPr lang="en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Store the Researcher information and visualize 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0D3EE-30FF-FBD7-2E09-12C49498B094}"/>
              </a:ext>
            </a:extLst>
          </p:cNvPr>
          <p:cNvSpPr txBox="1"/>
          <p:nvPr/>
        </p:nvSpPr>
        <p:spPr>
          <a:xfrm>
            <a:off x="1136467" y="3286914"/>
            <a:ext cx="79965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400" b="1" dirty="0">
                <a:latin typeface="Aptos" panose="020B0004020202020204" pitchFamily="34" charset="0"/>
                <a:cs typeface="Courier New" panose="02070309020205020404" pitchFamily="49" charset="0"/>
              </a:rPr>
              <a:t>to do so, let’s introduce the Templates and the Forms</a:t>
            </a:r>
          </a:p>
          <a:p>
            <a:r>
              <a:rPr lang="en-IT" sz="1400" b="1" dirty="0">
                <a:latin typeface="Aptos" panose="020B0004020202020204" pitchFamily="34" charset="0"/>
                <a:cs typeface="Courier New" panose="02070309020205020404" pitchFamily="49" charset="0"/>
              </a:rPr>
              <a:t>(let’s open visual studio code and follow this from there…)</a:t>
            </a:r>
          </a:p>
        </p:txBody>
      </p:sp>
      <p:pic>
        <p:nvPicPr>
          <p:cNvPr id="11" name="Picture 10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5C33F73A-D86F-B617-2573-B36EB1453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67" y="3830408"/>
            <a:ext cx="4533371" cy="1774692"/>
          </a:xfrm>
          <a:prstGeom prst="rect">
            <a:avLst/>
          </a:prstGeom>
        </p:spPr>
      </p:pic>
      <p:pic>
        <p:nvPicPr>
          <p:cNvPr id="14" name="Picture 1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691BBD8-AB8B-6859-91AE-BE649B604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420" y="2601713"/>
            <a:ext cx="3974112" cy="423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817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1B4016-DA20-0E2C-ADE8-21B28536E9E5}"/>
              </a:ext>
            </a:extLst>
          </p:cNvPr>
          <p:cNvSpPr txBox="1"/>
          <p:nvPr/>
        </p:nvSpPr>
        <p:spPr>
          <a:xfrm>
            <a:off x="1136468" y="1645919"/>
            <a:ext cx="15488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200" b="1" dirty="0"/>
              <a:t>EXERCISE:</a:t>
            </a:r>
            <a:endParaRPr lang="en-IT" sz="2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8EA5E7-3F9C-9B6B-41C3-22C58817B61B}"/>
              </a:ext>
            </a:extLst>
          </p:cNvPr>
          <p:cNvSpPr txBox="1"/>
          <p:nvPr/>
        </p:nvSpPr>
        <p:spPr>
          <a:xfrm>
            <a:off x="1136468" y="2349759"/>
            <a:ext cx="901875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en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try to integrate the metadata extraction of the previous lesson into Django (easy version, only the metadata):</a:t>
            </a:r>
          </a:p>
          <a:p>
            <a:pPr marL="800100" lvl="1" indent="-342900">
              <a:buAutoNum type="alphaLcPeriod"/>
            </a:pPr>
            <a:r>
              <a:rPr lang="en-IT" dirty="0">
                <a:latin typeface="Courier New" panose="02070309020205020404" pitchFamily="49" charset="0"/>
                <a:cs typeface="Courier New" panose="02070309020205020404" pitchFamily="49" charset="0"/>
              </a:rPr>
              <a:t>create a data model to hold the information</a:t>
            </a:r>
          </a:p>
          <a:p>
            <a:pPr marL="800100" lvl="1" indent="-342900">
              <a:buFontTx/>
              <a:buAutoNum type="alphaLcPeriod"/>
            </a:pPr>
            <a:r>
              <a:rPr lang="en-IT" dirty="0">
                <a:latin typeface="Courier New" panose="02070309020205020404" pitchFamily="49" charset="0"/>
                <a:cs typeface="Courier New" panose="02070309020205020404" pitchFamily="49" charset="0"/>
              </a:rPr>
              <a:t>import the module and the function needed in views.py</a:t>
            </a:r>
          </a:p>
          <a:p>
            <a:pPr marL="800100" lvl="1" indent="-342900">
              <a:buAutoNum type="alphaLcPeriod"/>
            </a:pPr>
            <a:r>
              <a:rPr lang="en-IT" dirty="0">
                <a:latin typeface="Courier New" panose="02070309020205020404" pitchFamily="49" charset="0"/>
                <a:cs typeface="Courier New" panose="02070309020205020404" pitchFamily="49" charset="0"/>
              </a:rPr>
              <a:t>create a view with a form that ask the filename, on method==“POST”, use the filename to read the metadata from the file, then you can</a:t>
            </a:r>
          </a:p>
          <a:p>
            <a:pPr marL="1257300" lvl="2" indent="-342900">
              <a:buAutoNum type="alphaLcPeriod"/>
            </a:pPr>
            <a:r>
              <a:rPr lang="en-IT" dirty="0">
                <a:latin typeface="Courier New" panose="02070309020205020404" pitchFamily="49" charset="0"/>
                <a:cs typeface="Courier New" panose="02070309020205020404" pitchFamily="49" charset="0"/>
              </a:rPr>
              <a:t>directly render on the same page the metadata</a:t>
            </a:r>
          </a:p>
          <a:p>
            <a:pPr marL="1257300" lvl="2" indent="-342900">
              <a:buAutoNum type="alphaLcPeriod"/>
            </a:pPr>
            <a:r>
              <a:rPr lang="en-IT" dirty="0">
                <a:latin typeface="Courier New" panose="02070309020205020404" pitchFamily="49" charset="0"/>
                <a:cs typeface="Courier New" panose="02070309020205020404" pitchFamily="49" charset="0"/>
              </a:rPr>
              <a:t>redirect to a new page (a new view) that render the data</a:t>
            </a:r>
          </a:p>
        </p:txBody>
      </p:sp>
    </p:spTree>
    <p:extLst>
      <p:ext uri="{BB962C8B-B14F-4D97-AF65-F5344CB8AC3E}">
        <p14:creationId xmlns:p14="http://schemas.microsoft.com/office/powerpoint/2010/main" val="2966847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66D07-93FE-62D4-5BD7-1F294519C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2A0AD276-3D9B-8E6F-4BA1-5ABA79CDB7B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996811" y="1893380"/>
            <a:ext cx="43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21" name="Segnaposto testo 20">
            <a:extLst>
              <a:ext uri="{FF2B5EF4-FFF2-40B4-BE49-F238E27FC236}">
                <a16:creationId xmlns:a16="http://schemas.microsoft.com/office/drawing/2014/main" id="{10DAE919-2704-8969-6024-695AC84D9B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dirty="0"/>
              <a:t>Thank </a:t>
            </a:r>
            <a:r>
              <a:rPr lang="it-IT" dirty="0" err="1"/>
              <a:t>you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37803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7228</TotalTime>
  <Words>1507</Words>
  <Application>Microsoft Macintosh PowerPoint</Application>
  <PresentationFormat>Widescreen</PresentationFormat>
  <Paragraphs>191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-apple-system</vt:lpstr>
      <vt:lpstr>Aptos</vt:lpstr>
      <vt:lpstr>Aptos Display</vt:lpstr>
      <vt:lpstr>Arial</vt:lpstr>
      <vt:lpstr>Courier New</vt:lpstr>
      <vt:lpstr>inherit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PRENASSI MARCO</dc:creator>
  <cp:lastModifiedBy>PRENASSI MARCO</cp:lastModifiedBy>
  <cp:revision>17</cp:revision>
  <dcterms:created xsi:type="dcterms:W3CDTF">2025-10-22T10:41:37Z</dcterms:created>
  <dcterms:modified xsi:type="dcterms:W3CDTF">2025-10-27T11:09:54Z</dcterms:modified>
</cp:coreProperties>
</file>